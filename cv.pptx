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772400" cy="10058400"/>
  <p:notesSz cx="6858000" cy="9144000"/>
  <p:embeddedFontLst>
    <p:embeddedFont>
      <p:font typeface="Raleway 1" charset="1" panose="020B0503030101060003"/>
      <p:regular r:id="rId7"/>
    </p:embeddedFont>
    <p:embeddedFont>
      <p:font typeface="Raleway 1 Bold" charset="1" panose="020B0803030101060003"/>
      <p:regular r:id="rId8"/>
    </p:embeddedFont>
    <p:embeddedFont>
      <p:font typeface="Questrial 1" charset="1" panose="02000000000000000000"/>
      <p:regular r:id="rId9"/>
    </p:embeddedFont>
    <p:embeddedFont>
      <p:font typeface="Questrial 2" charset="1" panose="00000000000000000000"/>
      <p:regular r:id="rId10"/>
    </p:embeddedFont>
    <p:embeddedFont>
      <p:font typeface="Raleway 2" charset="1" panose="0000000000000000000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375" y="-118461"/>
            <a:ext cx="2859432" cy="10176861"/>
            <a:chOff x="0" y="0"/>
            <a:chExt cx="1438042" cy="5118065"/>
          </a:xfrm>
        </p:grpSpPr>
        <p:sp>
          <p:nvSpPr>
            <p:cNvPr name="Freeform 3" id="3"/>
            <p:cNvSpPr/>
            <p:nvPr/>
          </p:nvSpPr>
          <p:spPr>
            <a:xfrm flipH="false" flipV="false" rot="0">
              <a:off x="0" y="0"/>
              <a:ext cx="1438042" cy="5118065"/>
            </a:xfrm>
            <a:custGeom>
              <a:avLst/>
              <a:gdLst/>
              <a:ahLst/>
              <a:cxnLst/>
              <a:rect r="r" b="b" t="t" l="l"/>
              <a:pathLst>
                <a:path h="5118065" w="1438042">
                  <a:moveTo>
                    <a:pt x="0" y="0"/>
                  </a:moveTo>
                  <a:lnTo>
                    <a:pt x="1438042" y="0"/>
                  </a:lnTo>
                  <a:lnTo>
                    <a:pt x="1438042" y="5118065"/>
                  </a:lnTo>
                  <a:lnTo>
                    <a:pt x="0" y="5118065"/>
                  </a:lnTo>
                  <a:close/>
                </a:path>
              </a:pathLst>
            </a:custGeom>
            <a:solidFill>
              <a:srgbClr val="000000"/>
            </a:solidFill>
          </p:spPr>
        </p:sp>
      </p:grpSp>
      <p:grpSp>
        <p:nvGrpSpPr>
          <p:cNvPr name="Group 4" id="4"/>
          <p:cNvGrpSpPr>
            <a:grpSpLocks noChangeAspect="true"/>
          </p:cNvGrpSpPr>
          <p:nvPr/>
        </p:nvGrpSpPr>
        <p:grpSpPr>
          <a:xfrm rot="0">
            <a:off x="439029" y="408618"/>
            <a:ext cx="1654983" cy="1654976"/>
            <a:chOff x="0" y="0"/>
            <a:chExt cx="6350000" cy="6349975"/>
          </a:xfrm>
        </p:grpSpPr>
        <p:sp>
          <p:nvSpPr>
            <p:cNvPr name="Freeform 5" id="5"/>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303" t="0" r="-78303" b="0"/>
              </a:stretch>
            </a:blipFill>
          </p:spPr>
        </p:sp>
      </p:grpSp>
      <p:grpSp>
        <p:nvGrpSpPr>
          <p:cNvPr name="Group 6" id="6"/>
          <p:cNvGrpSpPr/>
          <p:nvPr/>
        </p:nvGrpSpPr>
        <p:grpSpPr>
          <a:xfrm rot="0">
            <a:off x="439029" y="2603755"/>
            <a:ext cx="1944625" cy="107064"/>
            <a:chOff x="0" y="0"/>
            <a:chExt cx="10380315" cy="571500"/>
          </a:xfrm>
        </p:grpSpPr>
        <p:sp>
          <p:nvSpPr>
            <p:cNvPr name="Freeform 7" id="7"/>
            <p:cNvSpPr/>
            <p:nvPr/>
          </p:nvSpPr>
          <p:spPr>
            <a:xfrm flipH="false" flipV="false" rot="0">
              <a:off x="0" y="255270"/>
              <a:ext cx="10380315" cy="69850"/>
            </a:xfrm>
            <a:custGeom>
              <a:avLst/>
              <a:gdLst/>
              <a:ahLst/>
              <a:cxnLst/>
              <a:rect r="r" b="b" t="t" l="l"/>
              <a:pathLst>
                <a:path h="69850" w="10380315">
                  <a:moveTo>
                    <a:pt x="10089486" y="0"/>
                  </a:moveTo>
                  <a:lnTo>
                    <a:pt x="0" y="0"/>
                  </a:lnTo>
                  <a:lnTo>
                    <a:pt x="0" y="69850"/>
                  </a:lnTo>
                  <a:lnTo>
                    <a:pt x="10380315" y="69850"/>
                  </a:lnTo>
                  <a:lnTo>
                    <a:pt x="10380315" y="0"/>
                  </a:lnTo>
                  <a:close/>
                </a:path>
              </a:pathLst>
            </a:custGeom>
            <a:solidFill>
              <a:srgbClr val="FFFFFF"/>
            </a:solidFill>
          </p:spPr>
        </p:sp>
      </p:grpSp>
      <p:grpSp>
        <p:nvGrpSpPr>
          <p:cNvPr name="Group 8" id="8"/>
          <p:cNvGrpSpPr/>
          <p:nvPr/>
        </p:nvGrpSpPr>
        <p:grpSpPr>
          <a:xfrm rot="0">
            <a:off x="387966" y="5083055"/>
            <a:ext cx="1944625" cy="107064"/>
            <a:chOff x="0" y="0"/>
            <a:chExt cx="10380315" cy="571500"/>
          </a:xfrm>
        </p:grpSpPr>
        <p:sp>
          <p:nvSpPr>
            <p:cNvPr name="Freeform 9" id="9"/>
            <p:cNvSpPr/>
            <p:nvPr/>
          </p:nvSpPr>
          <p:spPr>
            <a:xfrm flipH="false" flipV="false" rot="0">
              <a:off x="0" y="255270"/>
              <a:ext cx="10380315" cy="69850"/>
            </a:xfrm>
            <a:custGeom>
              <a:avLst/>
              <a:gdLst/>
              <a:ahLst/>
              <a:cxnLst/>
              <a:rect r="r" b="b" t="t" l="l"/>
              <a:pathLst>
                <a:path h="69850" w="10380315">
                  <a:moveTo>
                    <a:pt x="10089486" y="0"/>
                  </a:moveTo>
                  <a:lnTo>
                    <a:pt x="0" y="0"/>
                  </a:lnTo>
                  <a:lnTo>
                    <a:pt x="0" y="69850"/>
                  </a:lnTo>
                  <a:lnTo>
                    <a:pt x="10380315" y="69850"/>
                  </a:lnTo>
                  <a:lnTo>
                    <a:pt x="10380315" y="0"/>
                  </a:lnTo>
                  <a:close/>
                </a:path>
              </a:pathLst>
            </a:custGeom>
            <a:solidFill>
              <a:srgbClr val="FFFFFF"/>
            </a:solidFill>
          </p:spPr>
        </p:sp>
      </p:grpSp>
      <p:grpSp>
        <p:nvGrpSpPr>
          <p:cNvPr name="Group 10" id="10"/>
          <p:cNvGrpSpPr/>
          <p:nvPr/>
        </p:nvGrpSpPr>
        <p:grpSpPr>
          <a:xfrm rot="0">
            <a:off x="344448" y="7044064"/>
            <a:ext cx="1944625" cy="107064"/>
            <a:chOff x="0" y="0"/>
            <a:chExt cx="10380315" cy="571500"/>
          </a:xfrm>
        </p:grpSpPr>
        <p:sp>
          <p:nvSpPr>
            <p:cNvPr name="Freeform 11" id="11"/>
            <p:cNvSpPr/>
            <p:nvPr/>
          </p:nvSpPr>
          <p:spPr>
            <a:xfrm flipH="false" flipV="false" rot="0">
              <a:off x="0" y="255270"/>
              <a:ext cx="10380315" cy="69850"/>
            </a:xfrm>
            <a:custGeom>
              <a:avLst/>
              <a:gdLst/>
              <a:ahLst/>
              <a:cxnLst/>
              <a:rect r="r" b="b" t="t" l="l"/>
              <a:pathLst>
                <a:path h="69850" w="10380315">
                  <a:moveTo>
                    <a:pt x="10089486" y="0"/>
                  </a:moveTo>
                  <a:lnTo>
                    <a:pt x="0" y="0"/>
                  </a:lnTo>
                  <a:lnTo>
                    <a:pt x="0" y="69850"/>
                  </a:lnTo>
                  <a:lnTo>
                    <a:pt x="10380315" y="69850"/>
                  </a:lnTo>
                  <a:lnTo>
                    <a:pt x="10380315" y="0"/>
                  </a:lnTo>
                  <a:close/>
                </a:path>
              </a:pathLst>
            </a:custGeom>
            <a:solidFill>
              <a:srgbClr val="FFFFFF"/>
            </a:solidFill>
          </p:spPr>
        </p:sp>
      </p:grpSp>
      <p:sp>
        <p:nvSpPr>
          <p:cNvPr name="TextBox 201" id="201"/>
          <p:cNvSpPr txBox="true"/>
          <p:nvPr/>
        </p:nvSpPr>
        <p:spPr>
          <a:xfrm rot="0">
            <a:off x="3227408" y="4060844"/>
            <a:ext cx="3706792" cy="147040"/>
          </a:xfrm>
          <a:prstGeom prst="rect">
            <a:avLst/>
          </a:prstGeom>
        </p:spPr>
        <p:txBody>
          <a:bodyPr anchor="t" rtlCol="false" tIns="0" lIns="0" bIns="0" rIns="0">
            <a:spAutoFit/>
          </a:bodyPr>
          <a:lstStyle/>
          <a:p>
            <a:pPr algn="l">
              <a:lnSpc>
                <a:spcPts val="1197"/>
              </a:lnSpc>
            </a:pPr>
            <a:r>
              <a:rPr lang="en-US" sz="921" b="true">
                <a:solidFill>
                  <a:srgbClr val="062446"/>
                </a:solidFill>
                <a:latin typeface="Raleway 1 Bold"/>
                <a:ea typeface="Raleway 1 Bold"/>
                <a:cs typeface="Raleway 1 Bold"/>
                <a:sym typeface="Raleway 1 Bold"/>
              </a:rPr>
              <a:t>Nixi Farmacia Digital - Plataforma de Farmacia Full-Stack</a:t>
            </a:r>
          </a:p>
        </p:txBody>
      </p:sp>
      <p:sp>
        <p:nvSpPr>
          <p:cNvPr name="TextBox 202" id="202"/>
          <p:cNvSpPr txBox="true"/>
          <p:nvPr/>
        </p:nvSpPr>
        <p:spPr>
          <a:xfrm rot="0">
            <a:off x="3227408" y="4197675"/>
            <a:ext cx="4054304" cy="147040"/>
          </a:xfrm>
          <a:prstGeom prst="rect">
            <a:avLst/>
          </a:prstGeom>
        </p:spPr>
        <p:txBody>
          <a:bodyPr anchor="t" rtlCol="false" tIns="0" lIns="0" bIns="0" rIns="0">
            <a:spAutoFit/>
          </a:bodyPr>
          <a:lstStyle/>
          <a:p>
            <a:pPr algn="l">
              <a:lnSpc>
                <a:spcPts val="1222"/>
              </a:lnSpc>
            </a:pPr>
            <a:r>
              <a:rPr lang="en-US" sz="940">
                <a:solidFill>
                  <a:srgbClr val="000000"/>
                </a:solidFill>
                <a:latin typeface="Raleway 1"/>
                <a:ea typeface="Raleway 1"/>
                <a:cs typeface="Raleway 1"/>
                <a:sym typeface="Raleway 1"/>
              </a:rPr>
              <a:t>Proyecto Personal | 2025</a:t>
            </a:r>
          </a:p>
        </p:txBody>
      </p:sp>
      <p:sp>
        <p:nvSpPr>
          <p:cNvPr name="TextBox 203" id="203"/>
          <p:cNvSpPr txBox="true"/>
          <p:nvPr/>
        </p:nvSpPr>
        <p:spPr>
          <a:xfrm rot="0">
            <a:off x="3288368" y="4405164"/>
            <a:ext cx="3706792" cy="650000"/>
          </a:xfrm>
          <a:prstGeom prst="rect">
            <a:avLst/>
          </a:prstGeom>
        </p:spPr>
        <p:txBody>
          <a:bodyPr anchor="t" rtlCol="false" tIns="0" lIns="0" bIns="0" rIns="0">
            <a:spAutoFit/>
          </a:bodyPr>
          <a:lstStyle/>
          <a:p>
            <a:pPr algn="just">
              <a:lnSpc>
                <a:spcPts val="1177"/>
              </a:lnSpc>
            </a:pPr>
            <a:r>
              <a:rPr lang="en-US" sz="840">
                <a:solidFill>
                  <a:srgbClr val="000000"/>
                </a:solidFill>
                <a:latin typeface="Questrial 1"/>
                <a:ea typeface="Questrial 1"/>
                <a:cs typeface="Questrial 1"/>
                <a:sym typeface="Questrial 1"/>
              </a:rPr>
              <a:t>Desarrollé plataforma full-stack de farmacia digital (Django REST Framework, React, PostgreSQL) con autenticación JWT, carrito de compras, recetas digitales y chatbot con IA; despliegue en Railway con Cloudinary.</a:t>
            </a:r>
          </a:p>
        </p:txBody>
      </p:sp>
      <p:grpSp>
        <p:nvGrpSpPr>
          <p:cNvPr name="Group 12" id="12"/>
          <p:cNvGrpSpPr/>
          <p:nvPr/>
        </p:nvGrpSpPr>
        <p:grpSpPr>
          <a:xfrm rot="0">
            <a:off x="3227408" y="5060844"/>
            <a:ext cx="3706792" cy="101049"/>
            <a:chOff x="0" y="0"/>
            <a:chExt cx="20964451" cy="571500"/>
          </a:xfrm>
        </p:grpSpPr>
        <p:sp>
          <p:nvSpPr>
            <p:cNvPr name="Freeform 13" id="13"/>
            <p:cNvSpPr/>
            <p:nvPr/>
          </p:nvSpPr>
          <p:spPr>
            <a:xfrm flipH="false" flipV="false" rot="0">
              <a:off x="0" y="255270"/>
              <a:ext cx="20964451" cy="69850"/>
            </a:xfrm>
            <a:custGeom>
              <a:avLst/>
              <a:gdLst/>
              <a:ahLst/>
              <a:cxnLst/>
              <a:rect r="r" b="b" t="t" l="l"/>
              <a:pathLst>
                <a:path h="69850" w="20964451">
                  <a:moveTo>
                    <a:pt x="20673620" y="0"/>
                  </a:moveTo>
                  <a:lnTo>
                    <a:pt x="0" y="0"/>
                  </a:lnTo>
                  <a:lnTo>
                    <a:pt x="0" y="69850"/>
                  </a:lnTo>
                  <a:lnTo>
                    <a:pt x="20964451" y="69850"/>
                  </a:lnTo>
                  <a:lnTo>
                    <a:pt x="20964451" y="0"/>
                  </a:lnTo>
                  <a:close/>
                </a:path>
              </a:pathLst>
            </a:custGeom>
            <a:solidFill>
              <a:srgbClr val="000000"/>
            </a:solidFill>
          </p:spPr>
        </p:sp>
      </p:grpSp>
      <p:grpSp>
        <p:nvGrpSpPr>
          <p:cNvPr name="Group 14" id="14"/>
          <p:cNvGrpSpPr/>
          <p:nvPr/>
        </p:nvGrpSpPr>
        <p:grpSpPr>
          <a:xfrm rot="0">
            <a:off x="373970" y="7491460"/>
            <a:ext cx="280558" cy="280558"/>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16" id="16"/>
          <p:cNvGrpSpPr/>
          <p:nvPr/>
        </p:nvGrpSpPr>
        <p:grpSpPr>
          <a:xfrm rot="0">
            <a:off x="373970" y="7887414"/>
            <a:ext cx="280558" cy="280558"/>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grpSp>
        <p:nvGrpSpPr>
          <p:cNvPr name="Group 18" id="18"/>
          <p:cNvGrpSpPr/>
          <p:nvPr/>
        </p:nvGrpSpPr>
        <p:grpSpPr>
          <a:xfrm rot="0">
            <a:off x="373970" y="8261956"/>
            <a:ext cx="280558" cy="280558"/>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Freeform 20" id="20"/>
          <p:cNvSpPr/>
          <p:nvPr/>
        </p:nvSpPr>
        <p:spPr>
          <a:xfrm flipH="false" flipV="false" rot="0">
            <a:off x="441985" y="7558000"/>
            <a:ext cx="144529" cy="147479"/>
          </a:xfrm>
          <a:custGeom>
            <a:avLst/>
            <a:gdLst/>
            <a:ahLst/>
            <a:cxnLst/>
            <a:rect r="r" b="b" t="t" l="l"/>
            <a:pathLst>
              <a:path h="147479" w="144529">
                <a:moveTo>
                  <a:pt x="0" y="0"/>
                </a:moveTo>
                <a:lnTo>
                  <a:pt x="144529" y="0"/>
                </a:lnTo>
                <a:lnTo>
                  <a:pt x="144529" y="147479"/>
                </a:lnTo>
                <a:lnTo>
                  <a:pt x="0" y="1474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438193" y="7970570"/>
            <a:ext cx="152114" cy="114247"/>
          </a:xfrm>
          <a:custGeom>
            <a:avLst/>
            <a:gdLst/>
            <a:ahLst/>
            <a:cxnLst/>
            <a:rect r="r" b="b" t="t" l="l"/>
            <a:pathLst>
              <a:path h="114247" w="152114">
                <a:moveTo>
                  <a:pt x="0" y="0"/>
                </a:moveTo>
                <a:lnTo>
                  <a:pt x="152114" y="0"/>
                </a:lnTo>
                <a:lnTo>
                  <a:pt x="152114" y="114246"/>
                </a:lnTo>
                <a:lnTo>
                  <a:pt x="0" y="114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457989" y="8320805"/>
            <a:ext cx="112521" cy="162860"/>
          </a:xfrm>
          <a:custGeom>
            <a:avLst/>
            <a:gdLst/>
            <a:ahLst/>
            <a:cxnLst/>
            <a:rect r="r" b="b" t="t" l="l"/>
            <a:pathLst>
              <a:path h="162860" w="112521">
                <a:moveTo>
                  <a:pt x="0" y="0"/>
                </a:moveTo>
                <a:lnTo>
                  <a:pt x="112521" y="0"/>
                </a:lnTo>
                <a:lnTo>
                  <a:pt x="112521" y="162860"/>
                </a:lnTo>
                <a:lnTo>
                  <a:pt x="0" y="1628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3" id="23"/>
          <p:cNvGrpSpPr/>
          <p:nvPr/>
        </p:nvGrpSpPr>
        <p:grpSpPr>
          <a:xfrm rot="0">
            <a:off x="345522" y="8573633"/>
            <a:ext cx="337455" cy="337455"/>
            <a:chOff x="0" y="0"/>
            <a:chExt cx="6350000" cy="6350000"/>
          </a:xfrm>
        </p:grpSpPr>
        <p:sp>
          <p:nvSpPr>
            <p:cNvPr name="Freeform 24" id="24"/>
            <p:cNvSpPr/>
            <p:nvPr/>
          </p:nvSpPr>
          <p:spPr>
            <a:xfrm flipH="false" flipV="false" rot="0">
              <a:off x="541020" y="537210"/>
              <a:ext cx="5255260" cy="5255260"/>
            </a:xfrm>
            <a:custGeom>
              <a:avLst/>
              <a:gdLst/>
              <a:ahLst/>
              <a:cxnLst/>
              <a:rect r="r" b="b" t="t" l="l"/>
              <a:pathLst>
                <a:path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a:blip r:embed="rId9"/>
              <a:stretch>
                <a:fillRect l="0" t="0" r="0" b="0"/>
              </a:stretch>
            </a:blipFill>
          </p:spPr>
        </p:sp>
      </p:grpSp>
      <p:sp>
        <p:nvSpPr>
          <p:cNvPr name="TextBox 25" id="25"/>
          <p:cNvSpPr txBox="true"/>
          <p:nvPr/>
        </p:nvSpPr>
        <p:spPr>
          <a:xfrm rot="0">
            <a:off x="3227408" y="7697935"/>
            <a:ext cx="1768112" cy="197033"/>
          </a:xfrm>
          <a:prstGeom prst="rect">
            <a:avLst/>
          </a:prstGeom>
        </p:spPr>
        <p:txBody>
          <a:bodyPr anchor="t" rtlCol="false" tIns="0" lIns="0" bIns="0" rIns="0">
            <a:spAutoFit/>
          </a:bodyPr>
          <a:lstStyle/>
          <a:p>
            <a:pPr algn="l">
              <a:lnSpc>
                <a:spcPts val="1580"/>
              </a:lnSpc>
              <a:spcBef>
                <a:spcPct val="0"/>
              </a:spcBef>
            </a:pPr>
            <a:r>
              <a:rPr lang="en-US" sz="1128" i="true">
                <a:solidFill>
                  <a:srgbClr val="062446"/>
                </a:solidFill>
                <a:latin typeface="Raleway 1"/>
                <a:ea typeface="Raleway 1"/>
                <a:cs typeface="Raleway 1"/>
                <a:sym typeface="Raleway 1"/>
              </a:rPr>
              <a:t>TECNOLOGÍAS</a:t>
            </a:r>
          </a:p>
        </p:txBody>
      </p:sp>
      <p:sp>
        <p:nvSpPr>
          <p:cNvPr name="TextBox 26" id="26"/>
          <p:cNvSpPr txBox="true"/>
          <p:nvPr/>
        </p:nvSpPr>
        <p:spPr>
          <a:xfrm rot="0">
            <a:off x="3227408" y="319815"/>
            <a:ext cx="5182893" cy="498359"/>
          </a:xfrm>
          <a:prstGeom prst="rect">
            <a:avLst/>
          </a:prstGeom>
        </p:spPr>
        <p:txBody>
          <a:bodyPr anchor="t" rtlCol="false" tIns="0" lIns="0" bIns="0" rIns="0">
            <a:spAutoFit/>
          </a:bodyPr>
          <a:lstStyle/>
          <a:p>
            <a:pPr algn="l">
              <a:lnSpc>
                <a:spcPts val="4031"/>
              </a:lnSpc>
            </a:pPr>
            <a:r>
              <a:rPr lang="en-US" b="true" sz="2879" i="true">
                <a:solidFill>
                  <a:srgbClr val="062446"/>
                </a:solidFill>
                <a:latin typeface="Raleway 1 Bold"/>
                <a:ea typeface="Raleway 1 Bold"/>
                <a:cs typeface="Raleway 1 Bold"/>
                <a:sym typeface="Raleway 1 Bold"/>
              </a:rPr>
              <a:t>Kevin Brian Ibarra Pineda</a:t>
            </a:r>
          </a:p>
        </p:txBody>
      </p:sp>
      <p:sp>
        <p:nvSpPr>
          <p:cNvPr name="TextBox 27" id="27"/>
          <p:cNvSpPr txBox="true"/>
          <p:nvPr/>
        </p:nvSpPr>
        <p:spPr>
          <a:xfrm rot="0">
            <a:off x="373970" y="7180127"/>
            <a:ext cx="1944625" cy="197033"/>
          </a:xfrm>
          <a:prstGeom prst="rect">
            <a:avLst/>
          </a:prstGeom>
        </p:spPr>
        <p:txBody>
          <a:bodyPr anchor="t" rtlCol="false" tIns="0" lIns="0" bIns="0" rIns="0">
            <a:spAutoFit/>
          </a:bodyPr>
          <a:lstStyle/>
          <a:p>
            <a:pPr algn="l">
              <a:lnSpc>
                <a:spcPts val="1580"/>
              </a:lnSpc>
              <a:spcBef>
                <a:spcPct val="0"/>
              </a:spcBef>
            </a:pPr>
            <a:r>
              <a:rPr lang="en-US" sz="1128">
                <a:solidFill>
                  <a:srgbClr val="FFFFFF"/>
                </a:solidFill>
                <a:latin typeface="Raleway 1"/>
                <a:ea typeface="Raleway 1"/>
                <a:cs typeface="Raleway 1"/>
                <a:sym typeface="Raleway 1"/>
              </a:rPr>
              <a:t>CONTACTO</a:t>
            </a:r>
          </a:p>
        </p:txBody>
      </p:sp>
      <p:sp>
        <p:nvSpPr>
          <p:cNvPr name="TextBox 28" id="28"/>
          <p:cNvSpPr txBox="true"/>
          <p:nvPr/>
        </p:nvSpPr>
        <p:spPr>
          <a:xfrm rot="0">
            <a:off x="373970" y="6365429"/>
            <a:ext cx="1944625" cy="197033"/>
          </a:xfrm>
          <a:prstGeom prst="rect">
            <a:avLst/>
          </a:prstGeom>
        </p:spPr>
        <p:txBody>
          <a:bodyPr anchor="t" rtlCol="false" tIns="0" lIns="0" bIns="0" rIns="0">
            <a:spAutoFit/>
          </a:bodyPr>
          <a:lstStyle/>
          <a:p>
            <a:pPr algn="l">
              <a:lnSpc>
                <a:spcPts val="1580"/>
              </a:lnSpc>
              <a:spcBef>
                <a:spcPct val="0"/>
              </a:spcBef>
            </a:pPr>
            <a:r>
              <a:rPr lang="en-US" sz="1128">
                <a:solidFill>
                  <a:srgbClr val="FFFFFF"/>
                </a:solidFill>
                <a:latin typeface="Raleway 1"/>
                <a:ea typeface="Raleway 1"/>
                <a:cs typeface="Raleway 1"/>
                <a:sym typeface="Raleway 1"/>
              </a:rPr>
              <a:t>MÁS INFORMACIÓN</a:t>
            </a:r>
          </a:p>
        </p:txBody>
      </p:sp>
      <p:sp>
        <p:nvSpPr>
          <p:cNvPr name="TextBox 29" id="29"/>
          <p:cNvSpPr txBox="true"/>
          <p:nvPr/>
        </p:nvSpPr>
        <p:spPr>
          <a:xfrm rot="0">
            <a:off x="439029" y="2852952"/>
            <a:ext cx="1944625" cy="197033"/>
          </a:xfrm>
          <a:prstGeom prst="rect">
            <a:avLst/>
          </a:prstGeom>
        </p:spPr>
        <p:txBody>
          <a:bodyPr anchor="t" rtlCol="false" tIns="0" lIns="0" bIns="0" rIns="0">
            <a:spAutoFit/>
          </a:bodyPr>
          <a:lstStyle/>
          <a:p>
            <a:pPr algn="l">
              <a:lnSpc>
                <a:spcPts val="1580"/>
              </a:lnSpc>
              <a:spcBef>
                <a:spcPct val="0"/>
              </a:spcBef>
            </a:pPr>
            <a:r>
              <a:rPr lang="en-US" sz="1128">
                <a:solidFill>
                  <a:srgbClr val="FFFFFF"/>
                </a:solidFill>
                <a:latin typeface="Raleway 1"/>
                <a:ea typeface="Raleway 1"/>
                <a:cs typeface="Raleway 1"/>
                <a:sym typeface="Raleway 1"/>
              </a:rPr>
              <a:t>SOBRE MÍ</a:t>
            </a:r>
          </a:p>
        </p:txBody>
      </p:sp>
      <p:sp>
        <p:nvSpPr>
          <p:cNvPr name="TextBox 30" id="30"/>
          <p:cNvSpPr txBox="true"/>
          <p:nvPr/>
        </p:nvSpPr>
        <p:spPr>
          <a:xfrm rot="0">
            <a:off x="439029" y="3148285"/>
            <a:ext cx="1654983" cy="2140182"/>
          </a:xfrm>
          <a:prstGeom prst="rect">
            <a:avLst/>
          </a:prstGeom>
        </p:spPr>
        <p:txBody>
          <a:bodyPr anchor="t" rtlCol="false" tIns="0" lIns="0" bIns="0" rIns="0">
            <a:spAutoFit/>
          </a:bodyPr>
          <a:lstStyle/>
          <a:p>
            <a:pPr algn="just">
              <a:lnSpc>
                <a:spcPts val="1222"/>
              </a:lnSpc>
            </a:pPr>
            <a:r>
              <a:rPr lang="en-US" sz="940">
                <a:solidFill>
                  <a:srgbClr val="FFFFFF"/>
                </a:solidFill>
                <a:latin typeface="Raleway 1"/>
                <a:ea typeface="Raleway 1"/>
                <a:cs typeface="Raleway 1"/>
                <a:sym typeface="Raleway 1"/>
              </a:rPr>
              <a:t>Estudiante de Ingeniería en Sistemas Computacionales de 8vo semestre con experiencia en desarrollo backend, aplicaciones web y automatización utilizando Python, Django y PostgreSQL. Apasionado por el desarrollo de software y la creación de soluciones tecnológicas eficientes que generen impacto real.</a:t>
            </a:r>
          </a:p>
          <a:p>
            <a:pPr algn="just">
              <a:lnSpc>
                <a:spcPts val="1222"/>
              </a:lnSpc>
            </a:pPr>
          </a:p>
          <a:p>
            <a:pPr algn="just">
              <a:lnSpc>
                <a:spcPts val="1222"/>
              </a:lnSpc>
            </a:pPr>
          </a:p>
        </p:txBody>
      </p:sp>
      <p:sp>
        <p:nvSpPr>
          <p:cNvPr name="TextBox 31" id="31"/>
          <p:cNvSpPr txBox="true"/>
          <p:nvPr/>
        </p:nvSpPr>
        <p:spPr>
          <a:xfrm rot="0">
            <a:off x="5916167" y="6676800"/>
            <a:ext cx="1844915" cy="197033"/>
          </a:xfrm>
          <a:prstGeom prst="rect">
            <a:avLst/>
          </a:prstGeom>
        </p:spPr>
        <p:txBody>
          <a:bodyPr anchor="t" rtlCol="false" tIns="0" lIns="0" bIns="0" rIns="0">
            <a:spAutoFit/>
          </a:bodyPr>
          <a:lstStyle/>
          <a:p>
            <a:pPr algn="l">
              <a:lnSpc>
                <a:spcPts val="1580"/>
              </a:lnSpc>
              <a:spcBef>
                <a:spcPct val="0"/>
              </a:spcBef>
            </a:pPr>
            <a:r>
              <a:rPr lang="en-US" sz="1128" i="true">
                <a:solidFill>
                  <a:srgbClr val="062446"/>
                </a:solidFill>
                <a:latin typeface="Raleway 1"/>
                <a:ea typeface="Raleway 1"/>
                <a:cs typeface="Raleway 1"/>
                <a:sym typeface="Raleway 1"/>
              </a:rPr>
              <a:t>IDIOMAS</a:t>
            </a:r>
          </a:p>
        </p:txBody>
      </p:sp>
      <p:sp>
        <p:nvSpPr>
          <p:cNvPr name="TextBox 32" id="32"/>
          <p:cNvSpPr txBox="true"/>
          <p:nvPr/>
        </p:nvSpPr>
        <p:spPr>
          <a:xfrm rot="0">
            <a:off x="3227408" y="1162491"/>
            <a:ext cx="3706792" cy="197033"/>
          </a:xfrm>
          <a:prstGeom prst="rect">
            <a:avLst/>
          </a:prstGeom>
        </p:spPr>
        <p:txBody>
          <a:bodyPr anchor="t" rtlCol="false" tIns="0" lIns="0" bIns="0" rIns="0">
            <a:spAutoFit/>
          </a:bodyPr>
          <a:lstStyle/>
          <a:p>
            <a:pPr algn="l">
              <a:lnSpc>
                <a:spcPts val="1580"/>
              </a:lnSpc>
              <a:spcBef>
                <a:spcPct val="0"/>
              </a:spcBef>
            </a:pPr>
            <a:r>
              <a:rPr lang="en-US" sz="1128" i="true">
                <a:solidFill>
                  <a:srgbClr val="062446"/>
                </a:solidFill>
                <a:latin typeface="Raleway 1"/>
                <a:ea typeface="Raleway 1"/>
                <a:cs typeface="Raleway 1"/>
                <a:sym typeface="Raleway 1"/>
              </a:rPr>
              <a:t>EXPERIENCIA LABORAL</a:t>
            </a:r>
          </a:p>
        </p:txBody>
      </p:sp>
      <p:sp>
        <p:nvSpPr>
          <p:cNvPr name="TextBox 33" id="33"/>
          <p:cNvSpPr txBox="true"/>
          <p:nvPr/>
        </p:nvSpPr>
        <p:spPr>
          <a:xfrm rot="0">
            <a:off x="439029" y="5178952"/>
            <a:ext cx="1648890" cy="197033"/>
          </a:xfrm>
          <a:prstGeom prst="rect">
            <a:avLst/>
          </a:prstGeom>
        </p:spPr>
        <p:txBody>
          <a:bodyPr anchor="t" rtlCol="false" tIns="0" lIns="0" bIns="0" rIns="0">
            <a:spAutoFit/>
          </a:bodyPr>
          <a:lstStyle/>
          <a:p>
            <a:pPr algn="l">
              <a:lnSpc>
                <a:spcPts val="1580"/>
              </a:lnSpc>
              <a:spcBef>
                <a:spcPct val="0"/>
              </a:spcBef>
            </a:pPr>
            <a:r>
              <a:rPr lang="en-US" sz="1128">
                <a:solidFill>
                  <a:srgbClr val="FFFFFF"/>
                </a:solidFill>
                <a:latin typeface="Raleway 1"/>
                <a:ea typeface="Raleway 1"/>
                <a:cs typeface="Raleway 1"/>
                <a:sym typeface="Raleway 1"/>
              </a:rPr>
              <a:t>DATOS ACADÉMICOS</a:t>
            </a:r>
          </a:p>
        </p:txBody>
      </p:sp>
      <p:sp>
        <p:nvSpPr>
          <p:cNvPr name="TextBox 34" id="34"/>
          <p:cNvSpPr txBox="true"/>
          <p:nvPr/>
        </p:nvSpPr>
        <p:spPr>
          <a:xfrm rot="0">
            <a:off x="3227408" y="1427148"/>
            <a:ext cx="3706792" cy="147040"/>
          </a:xfrm>
          <a:prstGeom prst="rect">
            <a:avLst/>
          </a:prstGeom>
        </p:spPr>
        <p:txBody>
          <a:bodyPr anchor="t" rtlCol="false" tIns="0" lIns="0" bIns="0" rIns="0">
            <a:spAutoFit/>
          </a:bodyPr>
          <a:lstStyle/>
          <a:p>
            <a:pPr algn="l">
              <a:lnSpc>
                <a:spcPts val="1197"/>
              </a:lnSpc>
            </a:pPr>
            <a:r>
              <a:rPr lang="en-US" sz="921" b="true">
                <a:solidFill>
                  <a:srgbClr val="062446"/>
                </a:solidFill>
                <a:latin typeface="Raleway 1 Bold"/>
                <a:ea typeface="Raleway 1 Bold"/>
                <a:cs typeface="Raleway 1 Bold"/>
                <a:sym typeface="Raleway 1 Bold"/>
              </a:rPr>
              <a:t>Desarrollador Backend &amp; Automatización</a:t>
            </a:r>
          </a:p>
        </p:txBody>
      </p:sp>
      <p:sp>
        <p:nvSpPr>
          <p:cNvPr name="TextBox 35" id="35"/>
          <p:cNvSpPr txBox="true"/>
          <p:nvPr/>
        </p:nvSpPr>
        <p:spPr>
          <a:xfrm rot="0">
            <a:off x="3227408" y="1771468"/>
            <a:ext cx="3706792" cy="1003780"/>
          </a:xfrm>
          <a:prstGeom prst="rect">
            <a:avLst/>
          </a:prstGeom>
        </p:spPr>
        <p:txBody>
          <a:bodyPr anchor="t" rtlCol="false" tIns="0" lIns="0" bIns="0" rIns="0">
            <a:spAutoFit/>
          </a:bodyPr>
          <a:lstStyle/>
          <a:p>
            <a:pPr algn="just">
              <a:lnSpc>
                <a:spcPts val="1177"/>
              </a:lnSpc>
            </a:pPr>
            <a:r>
              <a:rPr lang="en-US" sz="840">
                <a:solidFill>
                  <a:srgbClr val="000000"/>
                </a:solidFill>
                <a:latin typeface="Questrial 1"/>
                <a:ea typeface="Questrial 1"/>
                <a:cs typeface="Questrial 1"/>
                <a:sym typeface="Questrial 1"/>
              </a:rPr>
              <a:t>C</a:t>
            </a:r>
            <a:r>
              <a:rPr lang="en-US" sz="840">
                <a:solidFill>
                  <a:srgbClr val="000000"/>
                </a:solidFill>
                <a:latin typeface="Questrial 1"/>
                <a:ea typeface="Questrial 1"/>
                <a:cs typeface="Questrial 1"/>
                <a:sym typeface="Questrial 1"/>
              </a:rPr>
              <a:t>reé aplicación de escritorio (Python, Selenium, PyQt5) que automatiza el registro masivo de guías en portal AMPM, reduciendo tiempo de procesamiento de horas a minutos.</a:t>
            </a:r>
          </a:p>
          <a:p>
            <a:pPr algn="just">
              <a:lnSpc>
                <a:spcPts val="1177"/>
              </a:lnSpc>
              <a:spcBef>
                <a:spcPct val="0"/>
              </a:spcBef>
            </a:pPr>
            <a:r>
              <a:rPr lang="en-US" sz="840">
                <a:solidFill>
                  <a:srgbClr val="000000"/>
                </a:solidFill>
                <a:latin typeface="Questrial 1"/>
                <a:ea typeface="Questrial 1"/>
                <a:cs typeface="Questrial 1"/>
                <a:sym typeface="Questrial 1"/>
              </a:rPr>
              <a:t>Implementé sistema de detección inteligente de errores (guias ya entregadas) y generación automática de reportes Excel, logrando procesar 10-15 guías por minuto.</a:t>
            </a:r>
          </a:p>
          <a:p>
            <a:pPr algn="just">
              <a:lnSpc>
                <a:spcPts val="1177"/>
              </a:lnSpc>
              <a:spcBef>
                <a:spcPct val="0"/>
              </a:spcBef>
            </a:pPr>
          </a:p>
        </p:txBody>
      </p:sp>
      <p:sp>
        <p:nvSpPr>
          <p:cNvPr name="TextBox 36" id="36"/>
          <p:cNvSpPr txBox="true"/>
          <p:nvPr/>
        </p:nvSpPr>
        <p:spPr>
          <a:xfrm rot="0">
            <a:off x="3227408" y="1563979"/>
            <a:ext cx="3706792" cy="159432"/>
          </a:xfrm>
          <a:prstGeom prst="rect">
            <a:avLst/>
          </a:prstGeom>
        </p:spPr>
        <p:txBody>
          <a:bodyPr anchor="t" rtlCol="false" tIns="0" lIns="0" bIns="0" rIns="0">
            <a:spAutoFit/>
          </a:bodyPr>
          <a:lstStyle/>
          <a:p>
            <a:pPr algn="l">
              <a:lnSpc>
                <a:spcPts val="1222"/>
              </a:lnSpc>
            </a:pPr>
            <a:r>
              <a:rPr lang="en-US" sz="940">
                <a:solidFill>
                  <a:srgbClr val="000000"/>
                </a:solidFill>
                <a:latin typeface="Raleway 1"/>
                <a:ea typeface="Raleway 1"/>
                <a:cs typeface="Raleway 1"/>
                <a:sym typeface="Raleway 1"/>
              </a:rPr>
              <a:t>F</a:t>
            </a:r>
            <a:r>
              <a:rPr lang="en-US" sz="940">
                <a:solidFill>
                  <a:srgbClr val="000000"/>
                </a:solidFill>
                <a:latin typeface="Raleway 1"/>
                <a:ea typeface="Raleway 1"/>
                <a:cs typeface="Raleway 1"/>
                <a:sym typeface="Raleway 1"/>
              </a:rPr>
              <a:t>reelance / Proyectos Personales | 2025</a:t>
            </a:r>
          </a:p>
        </p:txBody>
      </p:sp>
      <p:sp>
        <p:nvSpPr>
          <p:cNvPr name="TextBox 37" id="37"/>
          <p:cNvSpPr txBox="true"/>
          <p:nvPr/>
        </p:nvSpPr>
        <p:spPr>
          <a:xfrm rot="0">
            <a:off x="3227408" y="2765724"/>
            <a:ext cx="3706792" cy="147040"/>
          </a:xfrm>
          <a:prstGeom prst="rect">
            <a:avLst/>
          </a:prstGeom>
        </p:spPr>
        <p:txBody>
          <a:bodyPr anchor="t" rtlCol="false" tIns="0" lIns="0" bIns="0" rIns="0">
            <a:spAutoFit/>
          </a:bodyPr>
          <a:lstStyle/>
          <a:p>
            <a:pPr algn="l">
              <a:lnSpc>
                <a:spcPts val="1197"/>
              </a:lnSpc>
            </a:pPr>
            <a:r>
              <a:rPr lang="en-US" sz="921" b="true">
                <a:solidFill>
                  <a:srgbClr val="062446"/>
                </a:solidFill>
                <a:latin typeface="Raleway 1 Bold"/>
                <a:ea typeface="Raleway 1 Bold"/>
                <a:cs typeface="Raleway 1 Bold"/>
                <a:sym typeface="Raleway 1 Bold"/>
              </a:rPr>
              <a:t>Plataforma Web "Se'si Eskani" - Monitoreo de Atributos de Egreso</a:t>
            </a:r>
          </a:p>
        </p:txBody>
      </p:sp>
      <p:sp>
        <p:nvSpPr>
          <p:cNvPr name="TextBox 38" id="38"/>
          <p:cNvSpPr txBox="true"/>
          <p:nvPr/>
        </p:nvSpPr>
        <p:spPr>
          <a:xfrm rot="0">
            <a:off x="3227408" y="2909685"/>
            <a:ext cx="4054304" cy="311761"/>
          </a:xfrm>
          <a:prstGeom prst="rect">
            <a:avLst/>
          </a:prstGeom>
        </p:spPr>
        <p:txBody>
          <a:bodyPr anchor="t" rtlCol="false" tIns="0" lIns="0" bIns="0" rIns="0">
            <a:spAutoFit/>
          </a:bodyPr>
          <a:lstStyle/>
          <a:p>
            <a:pPr algn="l">
              <a:lnSpc>
                <a:spcPts val="1222"/>
              </a:lnSpc>
            </a:pPr>
            <a:r>
              <a:rPr lang="en-US" sz="940">
                <a:solidFill>
                  <a:srgbClr val="000000"/>
                </a:solidFill>
                <a:latin typeface="Raleway 1"/>
                <a:ea typeface="Raleway 1"/>
                <a:cs typeface="Raleway 1"/>
                <a:sym typeface="Raleway 1"/>
              </a:rPr>
              <a:t>P</a:t>
            </a:r>
            <a:r>
              <a:rPr lang="en-US" sz="940">
                <a:solidFill>
                  <a:srgbClr val="000000"/>
                </a:solidFill>
                <a:latin typeface="Raleway 1"/>
                <a:ea typeface="Raleway 1"/>
                <a:cs typeface="Raleway 1"/>
                <a:sym typeface="Raleway 1"/>
              </a:rPr>
              <a:t>royecto Integrador - ITSH | 2025 - 2026</a:t>
            </a:r>
          </a:p>
          <a:p>
            <a:pPr algn="l">
              <a:lnSpc>
                <a:spcPts val="1222"/>
              </a:lnSpc>
            </a:pPr>
          </a:p>
        </p:txBody>
      </p:sp>
      <p:sp>
        <p:nvSpPr>
          <p:cNvPr name="TextBox 39" id="39"/>
          <p:cNvSpPr txBox="true"/>
          <p:nvPr/>
        </p:nvSpPr>
        <p:spPr>
          <a:xfrm rot="0">
            <a:off x="3288368" y="3120808"/>
            <a:ext cx="3706792" cy="1003780"/>
          </a:xfrm>
          <a:prstGeom prst="rect">
            <a:avLst/>
          </a:prstGeom>
        </p:spPr>
        <p:txBody>
          <a:bodyPr anchor="t" rtlCol="false" tIns="0" lIns="0" bIns="0" rIns="0">
            <a:spAutoFit/>
          </a:bodyPr>
          <a:lstStyle/>
          <a:p>
            <a:pPr algn="just">
              <a:lnSpc>
                <a:spcPts val="1177"/>
              </a:lnSpc>
            </a:pPr>
            <a:r>
              <a:rPr lang="en-US" sz="840">
                <a:solidFill>
                  <a:srgbClr val="000000"/>
                </a:solidFill>
                <a:latin typeface="Questrial 1"/>
                <a:ea typeface="Questrial 1"/>
                <a:cs typeface="Questrial 1"/>
                <a:sym typeface="Questrial 1"/>
              </a:rPr>
              <a:t>Desarrollé plataforma web (Django, PostgreSQL, Tailwind CSS) que centraliza el seguimiento de atributos de egreso para acreditación CACEI, eliminando gestión manual en hojas de cálculo.</a:t>
            </a:r>
          </a:p>
          <a:p>
            <a:pPr algn="just">
              <a:lnSpc>
                <a:spcPts val="1177"/>
              </a:lnSpc>
            </a:pPr>
            <a:r>
              <a:rPr lang="en-US" sz="840">
                <a:solidFill>
                  <a:srgbClr val="000000"/>
                </a:solidFill>
                <a:latin typeface="Questrial 1"/>
                <a:ea typeface="Questrial 1"/>
                <a:cs typeface="Questrial 1"/>
                <a:sym typeface="Questrial 1"/>
              </a:rPr>
              <a:t>Implementé módulos de registro de evidencias, visualización de cumplimiento y generación automática de reportes, optimizando el trabajo docente y administrativo.</a:t>
            </a:r>
          </a:p>
          <a:p>
            <a:pPr algn="just">
              <a:lnSpc>
                <a:spcPts val="1177"/>
              </a:lnSpc>
              <a:spcBef>
                <a:spcPct val="0"/>
              </a:spcBef>
            </a:pPr>
          </a:p>
        </p:txBody>
      </p:sp>
      <p:sp>
        <p:nvSpPr>
          <p:cNvPr name="TextBox 40" id="40"/>
          <p:cNvSpPr txBox="true"/>
          <p:nvPr/>
        </p:nvSpPr>
        <p:spPr>
          <a:xfrm rot="0">
            <a:off x="3288368" y="7942593"/>
            <a:ext cx="3706792" cy="2293103"/>
          </a:xfrm>
          <a:prstGeom prst="rect">
            <a:avLst/>
          </a:prstGeom>
        </p:spPr>
        <p:txBody>
          <a:bodyPr anchor="t" rtlCol="false" tIns="0" lIns="0" bIns="0" rIns="0">
            <a:spAutoFit/>
          </a:bodyPr>
          <a:lstStyle/>
          <a:p>
            <a:pPr algn="l" marL="203106" indent="-101553" lvl="1">
              <a:lnSpc>
                <a:spcPts val="1222"/>
              </a:lnSpc>
              <a:buFont typeface="Arial"/>
              <a:buChar char="•"/>
            </a:pPr>
            <a:r>
              <a:rPr lang="en-US" b="true" sz="940">
                <a:solidFill>
                  <a:srgbClr val="000000"/>
                </a:solidFill>
                <a:latin typeface="Raleway 1 Bold"/>
                <a:ea typeface="Raleway 1 Bold"/>
                <a:cs typeface="Raleway 1 Bold"/>
                <a:sym typeface="Raleway 1 Bold"/>
              </a:rPr>
              <a:t>Lenguajes:</a:t>
            </a:r>
            <a:r>
              <a:rPr lang="en-US" sz="940">
                <a:solidFill>
                  <a:srgbClr val="000000"/>
                </a:solidFill>
                <a:latin typeface="Raleway 1"/>
                <a:ea typeface="Raleway 1"/>
                <a:cs typeface="Raleway 1"/>
                <a:sym typeface="Raleway 1"/>
              </a:rPr>
              <a:t> Python, SQL, JavaScript, HTML5, CSS3</a:t>
            </a:r>
          </a:p>
          <a:p>
            <a:pPr algn="l">
              <a:lnSpc>
                <a:spcPts val="1222"/>
              </a:lnSpc>
            </a:pPr>
          </a:p>
          <a:p>
            <a:pPr algn="l" marL="203106" indent="-101553" lvl="1">
              <a:lnSpc>
                <a:spcPts val="1222"/>
              </a:lnSpc>
              <a:buFont typeface="Arial"/>
              <a:buChar char="•"/>
            </a:pPr>
            <a:r>
              <a:rPr lang="en-US" b="true" sz="940">
                <a:solidFill>
                  <a:srgbClr val="000000"/>
                </a:solidFill>
                <a:latin typeface="Raleway 1 Bold"/>
                <a:ea typeface="Raleway 1 Bold"/>
                <a:cs typeface="Raleway 1 Bold"/>
                <a:sym typeface="Raleway 1 Bold"/>
              </a:rPr>
              <a:t>Automatización:</a:t>
            </a:r>
            <a:r>
              <a:rPr lang="en-US" sz="940">
                <a:solidFill>
                  <a:srgbClr val="000000"/>
                </a:solidFill>
                <a:latin typeface="Raleway 1"/>
                <a:ea typeface="Raleway 1"/>
                <a:cs typeface="Raleway 1"/>
                <a:sym typeface="Raleway 1"/>
              </a:rPr>
              <a:t> Selenium WebDriver.</a:t>
            </a:r>
          </a:p>
          <a:p>
            <a:pPr algn="l">
              <a:lnSpc>
                <a:spcPts val="1222"/>
              </a:lnSpc>
            </a:pPr>
          </a:p>
          <a:p>
            <a:pPr algn="l" marL="203106" indent="-101553" lvl="1">
              <a:lnSpc>
                <a:spcPts val="1222"/>
              </a:lnSpc>
              <a:buFont typeface="Arial"/>
              <a:buChar char="•"/>
            </a:pPr>
            <a:r>
              <a:rPr lang="en-US" b="true" sz="940">
                <a:solidFill>
                  <a:srgbClr val="000000"/>
                </a:solidFill>
                <a:latin typeface="Raleway 1 Bold"/>
                <a:ea typeface="Raleway 1 Bold"/>
                <a:cs typeface="Raleway 1 Bold"/>
                <a:sym typeface="Raleway 1 Bold"/>
              </a:rPr>
              <a:t>Interfaces Gráficas:</a:t>
            </a:r>
            <a:r>
              <a:rPr lang="en-US" sz="940">
                <a:solidFill>
                  <a:srgbClr val="000000"/>
                </a:solidFill>
                <a:latin typeface="Raleway 1"/>
                <a:ea typeface="Raleway 1"/>
                <a:cs typeface="Raleway 1"/>
                <a:sym typeface="Raleway 1"/>
              </a:rPr>
              <a:t> PyQt5, Tkinter.</a:t>
            </a:r>
          </a:p>
          <a:p>
            <a:pPr algn="l">
              <a:lnSpc>
                <a:spcPts val="1222"/>
              </a:lnSpc>
            </a:pPr>
          </a:p>
          <a:p>
            <a:pPr algn="l" marL="203106" indent="-101553" lvl="1">
              <a:lnSpc>
                <a:spcPts val="1222"/>
              </a:lnSpc>
              <a:buFont typeface="Arial"/>
              <a:buChar char="•"/>
            </a:pPr>
            <a:r>
              <a:rPr lang="en-US" b="true" sz="940">
                <a:solidFill>
                  <a:srgbClr val="000000"/>
                </a:solidFill>
                <a:latin typeface="Raleway 1 Bold"/>
                <a:ea typeface="Raleway 1 Bold"/>
                <a:cs typeface="Raleway 1 Bold"/>
                <a:sym typeface="Raleway 1 Bold"/>
              </a:rPr>
              <a:t>Manejo de Datos:</a:t>
            </a:r>
            <a:r>
              <a:rPr lang="en-US" sz="940">
                <a:solidFill>
                  <a:srgbClr val="000000"/>
                </a:solidFill>
                <a:latin typeface="Raleway 1"/>
                <a:ea typeface="Raleway 1"/>
                <a:cs typeface="Raleway 1"/>
                <a:sym typeface="Raleway 1"/>
              </a:rPr>
              <a:t> Pandas, OpenPyXL, Excel.</a:t>
            </a:r>
          </a:p>
          <a:p>
            <a:pPr algn="l">
              <a:lnSpc>
                <a:spcPts val="1222"/>
              </a:lnSpc>
            </a:pPr>
          </a:p>
          <a:p>
            <a:pPr algn="l" marL="203106" indent="-101553" lvl="1">
              <a:lnSpc>
                <a:spcPts val="1222"/>
              </a:lnSpc>
              <a:buFont typeface="Arial"/>
              <a:buChar char="•"/>
            </a:pPr>
            <a:r>
              <a:rPr lang="en-US" b="true" sz="940">
                <a:solidFill>
                  <a:srgbClr val="000000"/>
                </a:solidFill>
                <a:latin typeface="Raleway 1 Bold"/>
                <a:ea typeface="Raleway 1 Bold"/>
                <a:cs typeface="Raleway 1 Bold"/>
                <a:sym typeface="Raleway 1 Bold"/>
              </a:rPr>
              <a:t>Herramientas:</a:t>
            </a:r>
            <a:r>
              <a:rPr lang="en-US" sz="940">
                <a:solidFill>
                  <a:srgbClr val="000000"/>
                </a:solidFill>
                <a:latin typeface="Raleway 1"/>
                <a:ea typeface="Raleway 1"/>
                <a:cs typeface="Raleway 1"/>
                <a:sym typeface="Raleway 1"/>
              </a:rPr>
              <a:t> Git y GitHub, Visual Studio Code, PyInstaller, Inno Setup.</a:t>
            </a:r>
          </a:p>
          <a:p>
            <a:pPr algn="l" marL="203106" indent="-101553" lvl="1">
              <a:lnSpc>
                <a:spcPts val="1222"/>
              </a:lnSpc>
              <a:buFont typeface="Arial"/>
              <a:buChar char="•"/>
            </a:pPr>
            <a:r>
              <a:rPr lang="en-US" b="true" sz="940">
                <a:solidFill>
                  <a:srgbClr val="000000"/>
                </a:solidFill>
                <a:latin typeface="Raleway 1 Bold"/>
                <a:ea typeface="Raleway 1 Bold"/>
                <a:cs typeface="Raleway 1 Bold"/>
                <a:sym typeface="Raleway 1 Bold"/>
              </a:rPr>
              <a:t>Frameworks y Desarrollo Web: </a:t>
            </a:r>
            <a:r>
              <a:rPr lang="en-US" sz="940">
                <a:solidFill>
                  <a:srgbClr val="000000"/>
                </a:solidFill>
                <a:latin typeface="Raleway 1"/>
                <a:ea typeface="Raleway 1"/>
                <a:cs typeface="Raleway 1"/>
                <a:sym typeface="Raleway 1"/>
              </a:rPr>
              <a:t>Django, Flask, FastAPI</a:t>
            </a:r>
          </a:p>
          <a:p>
            <a:pPr algn="l">
              <a:lnSpc>
                <a:spcPts val="1222"/>
              </a:lnSpc>
            </a:pPr>
          </a:p>
          <a:p>
            <a:pPr algn="l" marL="203106" indent="-101553" lvl="1">
              <a:lnSpc>
                <a:spcPts val="1222"/>
              </a:lnSpc>
              <a:buFont typeface="Arial"/>
              <a:buChar char="•"/>
            </a:pPr>
            <a:r>
              <a:rPr lang="en-US" b="true" sz="940">
                <a:solidFill>
                  <a:srgbClr val="000000"/>
                </a:solidFill>
                <a:latin typeface="Raleway 1 Bold"/>
                <a:ea typeface="Raleway 1 Bold"/>
                <a:cs typeface="Raleway 1 Bold"/>
                <a:sym typeface="Raleway 1 Bold"/>
              </a:rPr>
              <a:t>Bases de Datos:</a:t>
            </a:r>
            <a:r>
              <a:rPr lang="en-US" sz="940">
                <a:solidFill>
                  <a:srgbClr val="000000"/>
                </a:solidFill>
                <a:latin typeface="Raleway 1"/>
                <a:ea typeface="Raleway 1"/>
                <a:cs typeface="Raleway 1"/>
                <a:sym typeface="Raleway 1"/>
              </a:rPr>
              <a:t>MySQL, SQLite, MongoDB, P</a:t>
            </a:r>
            <a:r>
              <a:rPr lang="en-US" sz="940">
                <a:solidFill>
                  <a:srgbClr val="000000"/>
                </a:solidFill>
                <a:latin typeface="Raleway 1"/>
                <a:ea typeface="Raleway 1"/>
                <a:cs typeface="Raleway 1"/>
                <a:sym typeface="Raleway 1"/>
              </a:rPr>
              <a:t>ostgreSQL</a:t>
            </a:r>
          </a:p>
          <a:p>
            <a:pPr algn="l">
              <a:lnSpc>
                <a:spcPts val="1222"/>
              </a:lnSpc>
            </a:pPr>
          </a:p>
          <a:p>
            <a:pPr algn="l">
              <a:lnSpc>
                <a:spcPts val="1222"/>
              </a:lnSpc>
            </a:pPr>
          </a:p>
        </p:txBody>
      </p:sp>
      <p:sp>
        <p:nvSpPr>
          <p:cNvPr name="TextBox 41" id="41"/>
          <p:cNvSpPr txBox="true"/>
          <p:nvPr/>
        </p:nvSpPr>
        <p:spPr>
          <a:xfrm rot="0">
            <a:off x="421072" y="6627642"/>
            <a:ext cx="1768112" cy="311762"/>
          </a:xfrm>
          <a:prstGeom prst="rect">
            <a:avLst/>
          </a:prstGeom>
        </p:spPr>
        <p:txBody>
          <a:bodyPr anchor="t" rtlCol="false" tIns="0" lIns="0" bIns="0" rIns="0">
            <a:spAutoFit/>
          </a:bodyPr>
          <a:lstStyle/>
          <a:p>
            <a:pPr algn="l">
              <a:lnSpc>
                <a:spcPts val="1222"/>
              </a:lnSpc>
            </a:pPr>
            <a:r>
              <a:rPr lang="en-US" sz="940">
                <a:solidFill>
                  <a:srgbClr val="FFFFFF"/>
                </a:solidFill>
                <a:latin typeface="Raleway 1"/>
                <a:ea typeface="Raleway 1"/>
                <a:cs typeface="Raleway 1"/>
                <a:sym typeface="Raleway 1"/>
              </a:rPr>
              <a:t>- </a:t>
            </a:r>
            <a:r>
              <a:rPr lang="en-US" sz="940">
                <a:solidFill>
                  <a:srgbClr val="FFFFFF"/>
                </a:solidFill>
                <a:latin typeface="Raleway 1"/>
                <a:ea typeface="Raleway 1"/>
                <a:cs typeface="Raleway 1"/>
                <a:sym typeface="Raleway 1"/>
              </a:rPr>
              <a:t>Vehículo propio.</a:t>
            </a:r>
          </a:p>
          <a:p>
            <a:pPr algn="l">
              <a:lnSpc>
                <a:spcPts val="1222"/>
              </a:lnSpc>
            </a:pPr>
            <a:r>
              <a:rPr lang="en-US" sz="940">
                <a:solidFill>
                  <a:srgbClr val="FFFFFF"/>
                </a:solidFill>
                <a:latin typeface="Raleway 1"/>
                <a:ea typeface="Raleway 1"/>
                <a:cs typeface="Raleway 1"/>
                <a:sym typeface="Raleway 1"/>
              </a:rPr>
              <a:t>- Disponibilidad total.</a:t>
            </a:r>
          </a:p>
        </p:txBody>
      </p:sp>
      <p:sp>
        <p:nvSpPr>
          <p:cNvPr name="TextBox 42" id="42"/>
          <p:cNvSpPr txBox="true"/>
          <p:nvPr/>
        </p:nvSpPr>
        <p:spPr>
          <a:xfrm rot="0">
            <a:off x="736857" y="7494976"/>
            <a:ext cx="1581739" cy="990210"/>
          </a:xfrm>
          <a:prstGeom prst="rect">
            <a:avLst/>
          </a:prstGeom>
        </p:spPr>
        <p:txBody>
          <a:bodyPr anchor="t" rtlCol="false" tIns="0" lIns="0" bIns="0" rIns="0">
            <a:spAutoFit/>
          </a:bodyPr>
          <a:lstStyle/>
          <a:p>
            <a:pPr algn="l">
              <a:lnSpc>
                <a:spcPts val="1618"/>
              </a:lnSpc>
            </a:pPr>
            <a:r>
              <a:rPr lang="en-US" sz="940">
                <a:solidFill>
                  <a:srgbClr val="FFFFFF"/>
                </a:solidFill>
                <a:latin typeface="Questrial 1"/>
                <a:ea typeface="Questrial 1"/>
                <a:cs typeface="Questrial 1"/>
                <a:sym typeface="Questrial 1"/>
              </a:rPr>
              <a:t>767-121-6926</a:t>
            </a:r>
          </a:p>
          <a:p>
            <a:pPr algn="l">
              <a:lnSpc>
                <a:spcPts val="1618"/>
              </a:lnSpc>
            </a:pPr>
          </a:p>
          <a:p>
            <a:pPr algn="l">
              <a:lnSpc>
                <a:spcPts val="1618"/>
              </a:lnSpc>
            </a:pPr>
            <a:r>
              <a:rPr lang="en-US" sz="940">
                <a:solidFill>
                  <a:srgbClr val="FFFFFF"/>
                </a:solidFill>
                <a:latin typeface="Questrial 1"/>
                <a:ea typeface="Questrial 1"/>
                <a:cs typeface="Questrial 1"/>
                <a:sym typeface="Questrial 1"/>
              </a:rPr>
              <a:t>kevinbrianip498@gmail.com</a:t>
            </a:r>
          </a:p>
          <a:p>
            <a:pPr algn="l">
              <a:lnSpc>
                <a:spcPts val="1618"/>
              </a:lnSpc>
            </a:pPr>
          </a:p>
          <a:p>
            <a:pPr algn="l">
              <a:lnSpc>
                <a:spcPts val="1618"/>
              </a:lnSpc>
            </a:pPr>
            <a:r>
              <a:rPr lang="en-US" sz="940">
                <a:solidFill>
                  <a:srgbClr val="FFFFFF"/>
                </a:solidFill>
                <a:latin typeface="Questrial 1"/>
                <a:ea typeface="Questrial 1"/>
                <a:cs typeface="Questrial 1"/>
                <a:sym typeface="Questrial 1"/>
              </a:rPr>
              <a:t>Huetamo, Michoacán.</a:t>
            </a:r>
          </a:p>
        </p:txBody>
      </p:sp>
      <p:sp>
        <p:nvSpPr>
          <p:cNvPr name="TextBox 43" id="43"/>
          <p:cNvSpPr txBox="true"/>
          <p:nvPr/>
        </p:nvSpPr>
        <p:spPr>
          <a:xfrm rot="0">
            <a:off x="373970" y="5375138"/>
            <a:ext cx="1972617" cy="143723"/>
          </a:xfrm>
          <a:prstGeom prst="rect">
            <a:avLst/>
          </a:prstGeom>
        </p:spPr>
        <p:txBody>
          <a:bodyPr anchor="t" rtlCol="false" tIns="0" lIns="0" bIns="0" rIns="0">
            <a:spAutoFit/>
          </a:bodyPr>
          <a:lstStyle/>
          <a:p>
            <a:pPr algn="ctr">
              <a:lnSpc>
                <a:spcPts val="1120"/>
              </a:lnSpc>
              <a:spcBef>
                <a:spcPct val="0"/>
              </a:spcBef>
            </a:pPr>
            <a:r>
              <a:rPr lang="en-US" sz="800">
                <a:solidFill>
                  <a:srgbClr val="FFFFFF"/>
                </a:solidFill>
                <a:latin typeface="Questrial 2"/>
                <a:ea typeface="Questrial 2"/>
                <a:cs typeface="Questrial 2"/>
                <a:sym typeface="Questrial 2"/>
              </a:rPr>
              <a:t>Instituto Tecnológico Superior de Huetamo</a:t>
            </a:r>
          </a:p>
        </p:txBody>
      </p:sp>
      <p:sp>
        <p:nvSpPr>
          <p:cNvPr name="TextBox 44" id="44"/>
          <p:cNvSpPr txBox="true"/>
          <p:nvPr/>
        </p:nvSpPr>
        <p:spPr>
          <a:xfrm rot="0">
            <a:off x="3227408" y="6683887"/>
            <a:ext cx="1648890" cy="197033"/>
          </a:xfrm>
          <a:prstGeom prst="rect">
            <a:avLst/>
          </a:prstGeom>
        </p:spPr>
        <p:txBody>
          <a:bodyPr anchor="t" rtlCol="false" tIns="0" lIns="0" bIns="0" rIns="0">
            <a:spAutoFit/>
          </a:bodyPr>
          <a:lstStyle/>
          <a:p>
            <a:pPr algn="l">
              <a:lnSpc>
                <a:spcPts val="1580"/>
              </a:lnSpc>
              <a:spcBef>
                <a:spcPct val="0"/>
              </a:spcBef>
            </a:pPr>
            <a:r>
              <a:rPr lang="en-US" sz="1128">
                <a:solidFill>
                  <a:srgbClr val="062446"/>
                </a:solidFill>
                <a:latin typeface="Raleway 1"/>
                <a:ea typeface="Raleway 1"/>
                <a:cs typeface="Raleway 1"/>
                <a:sym typeface="Raleway 1"/>
              </a:rPr>
              <a:t>HABILIDADES BLANDAS</a:t>
            </a:r>
          </a:p>
        </p:txBody>
      </p:sp>
      <p:sp>
        <p:nvSpPr>
          <p:cNvPr name="TextBox 45" id="45"/>
          <p:cNvSpPr txBox="true"/>
          <p:nvPr/>
        </p:nvSpPr>
        <p:spPr>
          <a:xfrm rot="0">
            <a:off x="3311426" y="7138354"/>
            <a:ext cx="834971" cy="143723"/>
          </a:xfrm>
          <a:prstGeom prst="rect">
            <a:avLst/>
          </a:prstGeom>
        </p:spPr>
        <p:txBody>
          <a:bodyPr anchor="t" rtlCol="false" tIns="0" lIns="0" bIns="0" rIns="0">
            <a:spAutoFit/>
          </a:bodyPr>
          <a:lstStyle/>
          <a:p>
            <a:pPr algn="ctr">
              <a:lnSpc>
                <a:spcPts val="1120"/>
              </a:lnSpc>
              <a:spcBef>
                <a:spcPct val="0"/>
              </a:spcBef>
            </a:pPr>
            <a:r>
              <a:rPr lang="en-US" sz="800">
                <a:solidFill>
                  <a:srgbClr val="000000"/>
                </a:solidFill>
                <a:latin typeface="Questrial 2"/>
                <a:ea typeface="Questrial 2"/>
                <a:cs typeface="Questrial 2"/>
                <a:sym typeface="Questrial 2"/>
              </a:rPr>
              <a:t>Trabajo en equipo</a:t>
            </a:r>
          </a:p>
        </p:txBody>
      </p:sp>
      <p:sp>
        <p:nvSpPr>
          <p:cNvPr name="TextBox 46" id="46"/>
          <p:cNvSpPr txBox="true"/>
          <p:nvPr/>
        </p:nvSpPr>
        <p:spPr>
          <a:xfrm rot="0">
            <a:off x="3323301" y="7272553"/>
            <a:ext cx="665485" cy="143723"/>
          </a:xfrm>
          <a:prstGeom prst="rect">
            <a:avLst/>
          </a:prstGeom>
        </p:spPr>
        <p:txBody>
          <a:bodyPr anchor="t" rtlCol="false" tIns="0" lIns="0" bIns="0" rIns="0">
            <a:spAutoFit/>
          </a:bodyPr>
          <a:lstStyle/>
          <a:p>
            <a:pPr algn="ctr">
              <a:lnSpc>
                <a:spcPts val="1120"/>
              </a:lnSpc>
              <a:spcBef>
                <a:spcPct val="0"/>
              </a:spcBef>
            </a:pPr>
            <a:r>
              <a:rPr lang="en-US" sz="800">
                <a:solidFill>
                  <a:srgbClr val="000000"/>
                </a:solidFill>
                <a:latin typeface="Questrial 2"/>
                <a:ea typeface="Questrial 2"/>
                <a:cs typeface="Questrial 2"/>
                <a:sym typeface="Questrial 2"/>
              </a:rPr>
              <a:t>C</a:t>
            </a:r>
            <a:r>
              <a:rPr lang="en-US" sz="800">
                <a:solidFill>
                  <a:srgbClr val="000000"/>
                </a:solidFill>
                <a:latin typeface="Questrial 2"/>
                <a:ea typeface="Questrial 2"/>
                <a:cs typeface="Questrial 2"/>
                <a:sym typeface="Questrial 2"/>
              </a:rPr>
              <a:t>omunicación</a:t>
            </a:r>
          </a:p>
        </p:txBody>
      </p:sp>
      <p:sp>
        <p:nvSpPr>
          <p:cNvPr name="TextBox 47" id="47"/>
          <p:cNvSpPr txBox="true"/>
          <p:nvPr/>
        </p:nvSpPr>
        <p:spPr>
          <a:xfrm rot="0">
            <a:off x="3323301" y="7005594"/>
            <a:ext cx="908290" cy="143723"/>
          </a:xfrm>
          <a:prstGeom prst="rect">
            <a:avLst/>
          </a:prstGeom>
        </p:spPr>
        <p:txBody>
          <a:bodyPr anchor="t" rtlCol="false" tIns="0" lIns="0" bIns="0" rIns="0">
            <a:spAutoFit/>
          </a:bodyPr>
          <a:lstStyle/>
          <a:p>
            <a:pPr algn="ctr">
              <a:lnSpc>
                <a:spcPts val="1120"/>
              </a:lnSpc>
              <a:spcBef>
                <a:spcPct val="0"/>
              </a:spcBef>
            </a:pPr>
            <a:r>
              <a:rPr lang="en-US" sz="800">
                <a:solidFill>
                  <a:srgbClr val="000000"/>
                </a:solidFill>
                <a:latin typeface="Questrial 2"/>
                <a:ea typeface="Questrial 2"/>
                <a:cs typeface="Questrial 2"/>
                <a:sym typeface="Questrial 2"/>
              </a:rPr>
              <a:t>Pensa</a:t>
            </a:r>
            <a:r>
              <a:rPr lang="en-US" sz="800">
                <a:solidFill>
                  <a:srgbClr val="000000"/>
                </a:solidFill>
                <a:latin typeface="Questrial 2"/>
                <a:ea typeface="Questrial 2"/>
                <a:cs typeface="Questrial 2"/>
                <a:sym typeface="Questrial 2"/>
              </a:rPr>
              <a:t>miento crítico</a:t>
            </a:r>
          </a:p>
        </p:txBody>
      </p:sp>
      <p:sp>
        <p:nvSpPr>
          <p:cNvPr name="TextBox 48" id="48"/>
          <p:cNvSpPr txBox="true"/>
          <p:nvPr/>
        </p:nvSpPr>
        <p:spPr>
          <a:xfrm rot="0">
            <a:off x="3311426" y="6890446"/>
            <a:ext cx="1043926" cy="143723"/>
          </a:xfrm>
          <a:prstGeom prst="rect">
            <a:avLst/>
          </a:prstGeom>
        </p:spPr>
        <p:txBody>
          <a:bodyPr anchor="t" rtlCol="false" tIns="0" lIns="0" bIns="0" rIns="0">
            <a:spAutoFit/>
          </a:bodyPr>
          <a:lstStyle/>
          <a:p>
            <a:pPr algn="ctr">
              <a:lnSpc>
                <a:spcPts val="1120"/>
              </a:lnSpc>
              <a:spcBef>
                <a:spcPct val="0"/>
              </a:spcBef>
            </a:pPr>
            <a:r>
              <a:rPr lang="en-US" sz="800">
                <a:solidFill>
                  <a:srgbClr val="000000"/>
                </a:solidFill>
                <a:latin typeface="Questrial 2"/>
                <a:ea typeface="Questrial 2"/>
                <a:cs typeface="Questrial 2"/>
                <a:sym typeface="Questrial 2"/>
              </a:rPr>
              <a:t>Aprendizaje autónomo</a:t>
            </a:r>
          </a:p>
        </p:txBody>
      </p:sp>
      <p:grpSp>
        <p:nvGrpSpPr>
          <p:cNvPr name="Group 49" id="49"/>
          <p:cNvGrpSpPr/>
          <p:nvPr/>
        </p:nvGrpSpPr>
        <p:grpSpPr>
          <a:xfrm rot="0">
            <a:off x="3227408" y="7589078"/>
            <a:ext cx="3706792" cy="101049"/>
            <a:chOff x="0" y="0"/>
            <a:chExt cx="20964451" cy="571500"/>
          </a:xfrm>
        </p:grpSpPr>
        <p:sp>
          <p:nvSpPr>
            <p:cNvPr name="Freeform 50" id="50"/>
            <p:cNvSpPr/>
            <p:nvPr/>
          </p:nvSpPr>
          <p:spPr>
            <a:xfrm flipH="false" flipV="false" rot="0">
              <a:off x="0" y="255270"/>
              <a:ext cx="20964451" cy="69850"/>
            </a:xfrm>
            <a:custGeom>
              <a:avLst/>
              <a:gdLst/>
              <a:ahLst/>
              <a:cxnLst/>
              <a:rect r="r" b="b" t="t" l="l"/>
              <a:pathLst>
                <a:path h="69850" w="20964451">
                  <a:moveTo>
                    <a:pt x="20673620" y="0"/>
                  </a:moveTo>
                  <a:lnTo>
                    <a:pt x="0" y="0"/>
                  </a:lnTo>
                  <a:lnTo>
                    <a:pt x="0" y="69850"/>
                  </a:lnTo>
                  <a:lnTo>
                    <a:pt x="20964451" y="69850"/>
                  </a:lnTo>
                  <a:lnTo>
                    <a:pt x="20964451" y="0"/>
                  </a:lnTo>
                  <a:close/>
                </a:path>
              </a:pathLst>
            </a:custGeom>
            <a:solidFill>
              <a:srgbClr val="000000"/>
            </a:solidFill>
          </p:spPr>
        </p:sp>
      </p:grpSp>
      <p:grpSp>
        <p:nvGrpSpPr>
          <p:cNvPr name="Group 51" id="51"/>
          <p:cNvGrpSpPr/>
          <p:nvPr/>
        </p:nvGrpSpPr>
        <p:grpSpPr>
          <a:xfrm rot="-5400000">
            <a:off x="5321133" y="-1173769"/>
            <a:ext cx="192373" cy="4379822"/>
            <a:chOff x="0" y="0"/>
            <a:chExt cx="389764" cy="8873901"/>
          </a:xfrm>
        </p:grpSpPr>
        <p:sp>
          <p:nvSpPr>
            <p:cNvPr name="Freeform 52" id="52"/>
            <p:cNvSpPr/>
            <p:nvPr/>
          </p:nvSpPr>
          <p:spPr>
            <a:xfrm flipH="false" flipV="false" rot="0">
              <a:off x="0" y="0"/>
              <a:ext cx="389764" cy="8873902"/>
            </a:xfrm>
            <a:custGeom>
              <a:avLst/>
              <a:gdLst/>
              <a:ahLst/>
              <a:cxnLst/>
              <a:rect r="r" b="b" t="t" l="l"/>
              <a:pathLst>
                <a:path h="8873902" w="389764">
                  <a:moveTo>
                    <a:pt x="0" y="0"/>
                  </a:moveTo>
                  <a:lnTo>
                    <a:pt x="389764" y="0"/>
                  </a:lnTo>
                  <a:lnTo>
                    <a:pt x="389764" y="8873902"/>
                  </a:lnTo>
                  <a:lnTo>
                    <a:pt x="0" y="8873902"/>
                  </a:lnTo>
                  <a:close/>
                </a:path>
              </a:pathLst>
            </a:custGeom>
            <a:solidFill>
              <a:srgbClr val="000000"/>
            </a:solidFill>
          </p:spPr>
        </p:sp>
        <p:sp>
          <p:nvSpPr>
            <p:cNvPr name="TextBox 53" id="53"/>
            <p:cNvSpPr txBox="true"/>
            <p:nvPr/>
          </p:nvSpPr>
          <p:spPr>
            <a:xfrm>
              <a:off x="0" y="-28575"/>
              <a:ext cx="389764" cy="8902476"/>
            </a:xfrm>
            <a:prstGeom prst="rect">
              <a:avLst/>
            </a:prstGeom>
          </p:spPr>
          <p:txBody>
            <a:bodyPr anchor="ctr" rtlCol="false" tIns="47790" lIns="47790" bIns="47790" rIns="47790"/>
            <a:lstStyle/>
            <a:p>
              <a:pPr algn="ctr">
                <a:lnSpc>
                  <a:spcPts val="1898"/>
                </a:lnSpc>
              </a:pPr>
            </a:p>
          </p:txBody>
        </p:sp>
      </p:grpSp>
      <p:sp>
        <p:nvSpPr>
          <p:cNvPr name="TextBox 54" id="54"/>
          <p:cNvSpPr txBox="true"/>
          <p:nvPr/>
        </p:nvSpPr>
        <p:spPr>
          <a:xfrm rot="0">
            <a:off x="3912943" y="888456"/>
            <a:ext cx="3611216" cy="223873"/>
          </a:xfrm>
          <a:prstGeom prst="rect">
            <a:avLst/>
          </a:prstGeom>
        </p:spPr>
        <p:txBody>
          <a:bodyPr anchor="t" rtlCol="false" tIns="0" lIns="0" bIns="0" rIns="0">
            <a:spAutoFit/>
          </a:bodyPr>
          <a:lstStyle/>
          <a:p>
            <a:pPr algn="l">
              <a:lnSpc>
                <a:spcPts val="1835"/>
              </a:lnSpc>
              <a:spcBef>
                <a:spcPct val="0"/>
              </a:spcBef>
            </a:pPr>
            <a:r>
              <a:rPr lang="en-US" sz="1311" i="true">
                <a:solidFill>
                  <a:srgbClr val="FFFFFF"/>
                </a:solidFill>
                <a:latin typeface="Raleway 1"/>
                <a:ea typeface="Raleway 1"/>
                <a:cs typeface="Raleway 1"/>
                <a:sym typeface="Raleway 1"/>
              </a:rPr>
              <a:t>Ingeniero en sistemas computacionales</a:t>
            </a:r>
          </a:p>
        </p:txBody>
      </p:sp>
      <p:grpSp>
        <p:nvGrpSpPr>
          <p:cNvPr name="Group 55" id="55"/>
          <p:cNvGrpSpPr/>
          <p:nvPr/>
        </p:nvGrpSpPr>
        <p:grpSpPr>
          <a:xfrm rot="0">
            <a:off x="5609724" y="6685294"/>
            <a:ext cx="217653" cy="217653"/>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57" id="57"/>
            <p:cNvSpPr txBox="true"/>
            <p:nvPr/>
          </p:nvSpPr>
          <p:spPr>
            <a:xfrm>
              <a:off x="76200" y="57150"/>
              <a:ext cx="660400" cy="679450"/>
            </a:xfrm>
            <a:prstGeom prst="rect">
              <a:avLst/>
            </a:prstGeom>
          </p:spPr>
          <p:txBody>
            <a:bodyPr anchor="ctr" rtlCol="false" tIns="47790" lIns="47790" bIns="47790" rIns="47790"/>
            <a:lstStyle/>
            <a:p>
              <a:pPr algn="ctr">
                <a:lnSpc>
                  <a:spcPts val="1317"/>
                </a:lnSpc>
              </a:pPr>
            </a:p>
          </p:txBody>
        </p:sp>
      </p:grpSp>
      <p:sp>
        <p:nvSpPr>
          <p:cNvPr name="Freeform 58" id="58"/>
          <p:cNvSpPr/>
          <p:nvPr/>
        </p:nvSpPr>
        <p:spPr>
          <a:xfrm flipH="false" flipV="false" rot="0">
            <a:off x="5649990" y="6730538"/>
            <a:ext cx="137120" cy="131137"/>
          </a:xfrm>
          <a:custGeom>
            <a:avLst/>
            <a:gdLst/>
            <a:ahLst/>
            <a:cxnLst/>
            <a:rect r="r" b="b" t="t" l="l"/>
            <a:pathLst>
              <a:path h="131137" w="137120">
                <a:moveTo>
                  <a:pt x="0" y="0"/>
                </a:moveTo>
                <a:lnTo>
                  <a:pt x="137121" y="0"/>
                </a:lnTo>
                <a:lnTo>
                  <a:pt x="137121" y="131137"/>
                </a:lnTo>
                <a:lnTo>
                  <a:pt x="0" y="13113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9" id="59"/>
          <p:cNvSpPr txBox="true"/>
          <p:nvPr/>
        </p:nvSpPr>
        <p:spPr>
          <a:xfrm rot="0">
            <a:off x="5767900" y="6874911"/>
            <a:ext cx="1070724" cy="535497"/>
          </a:xfrm>
          <a:prstGeom prst="rect">
            <a:avLst/>
          </a:prstGeom>
        </p:spPr>
        <p:txBody>
          <a:bodyPr anchor="t" rtlCol="false" tIns="0" lIns="0" bIns="0" rIns="0">
            <a:spAutoFit/>
          </a:bodyPr>
          <a:lstStyle/>
          <a:p>
            <a:pPr algn="l" marL="181516" indent="-90758" lvl="1">
              <a:lnSpc>
                <a:spcPts val="1446"/>
              </a:lnSpc>
              <a:buFont typeface="Arial"/>
              <a:buChar char="•"/>
            </a:pPr>
            <a:r>
              <a:rPr lang="en-US" sz="840">
                <a:solidFill>
                  <a:srgbClr val="000000"/>
                </a:solidFill>
                <a:latin typeface="Raleway 2"/>
                <a:ea typeface="Raleway 2"/>
                <a:cs typeface="Raleway 2"/>
                <a:sym typeface="Raleway 2"/>
              </a:rPr>
              <a:t>Español Nativo</a:t>
            </a:r>
          </a:p>
          <a:p>
            <a:pPr algn="l" marL="181516" indent="-90758" lvl="1">
              <a:lnSpc>
                <a:spcPts val="1446"/>
              </a:lnSpc>
              <a:buFont typeface="Arial"/>
              <a:buChar char="•"/>
            </a:pPr>
            <a:r>
              <a:rPr lang="en-US" sz="840">
                <a:solidFill>
                  <a:srgbClr val="000000"/>
                </a:solidFill>
                <a:latin typeface="Raleway 2"/>
                <a:ea typeface="Raleway 2"/>
                <a:cs typeface="Raleway 2"/>
                <a:sym typeface="Raleway 2"/>
              </a:rPr>
              <a:t>Inglés B1</a:t>
            </a:r>
          </a:p>
          <a:p>
            <a:pPr algn="l">
              <a:lnSpc>
                <a:spcPts val="1446"/>
              </a:lnSpc>
            </a:pPr>
          </a:p>
        </p:txBody>
      </p:sp>
      <p:sp>
        <p:nvSpPr>
          <p:cNvPr name="TextBox 60" id="60"/>
          <p:cNvSpPr txBox="true"/>
          <p:nvPr/>
        </p:nvSpPr>
        <p:spPr>
          <a:xfrm rot="0">
            <a:off x="682977" y="8694736"/>
            <a:ext cx="1537159" cy="142023"/>
          </a:xfrm>
          <a:prstGeom prst="rect">
            <a:avLst/>
          </a:prstGeom>
        </p:spPr>
        <p:txBody>
          <a:bodyPr anchor="t" rtlCol="false" tIns="0" lIns="0" bIns="0" rIns="0">
            <a:spAutoFit/>
          </a:bodyPr>
          <a:lstStyle/>
          <a:p>
            <a:pPr algn="ctr">
              <a:lnSpc>
                <a:spcPts val="1103"/>
              </a:lnSpc>
              <a:spcBef>
                <a:spcPct val="0"/>
              </a:spcBef>
            </a:pPr>
            <a:r>
              <a:rPr lang="en-US" sz="788" i="true">
                <a:solidFill>
                  <a:srgbClr val="FFFFFF"/>
                </a:solidFill>
                <a:latin typeface="Raleway 1"/>
                <a:ea typeface="Raleway 1"/>
                <a:cs typeface="Raleway 1"/>
                <a:sym typeface="Raleway 1"/>
              </a:rPr>
              <a:t>https://github.com/Kevin498777</a:t>
            </a:r>
          </a:p>
        </p:txBody>
      </p:sp>
      <p:grpSp>
        <p:nvGrpSpPr>
          <p:cNvPr name="Group 300" id="300"/>
          <p:cNvGrpSpPr/>
          <p:nvPr/>
        </p:nvGrpSpPr>
        <p:grpSpPr>
          <a:xfrm rot="0">
            <a:off x="345522" y="8885310"/>
            <a:ext cx="337455" cy="337455"/>
            <a:chOff x="0" y="0"/>
            <a:chExt cx="6350000" cy="6350000"/>
          </a:xfrm>
        </p:grpSpPr>
        <p:sp>
          <p:nvSpPr>
            <p:cNvPr name="Freeform 301" id="30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TextBox 302" id="302"/>
          <p:cNvSpPr txBox="true"/>
          <p:nvPr/>
        </p:nvSpPr>
        <p:spPr>
          <a:xfrm rot="0">
            <a:off x="345522" y="8885310"/>
            <a:ext cx="337455" cy="337455"/>
          </a:xfrm>
          <a:prstGeom prst="rect">
            <a:avLst/>
          </a:prstGeom>
        </p:spPr>
        <p:txBody>
          <a:bodyPr anchor="ctr" rtlCol="false" tIns="0" lIns="0" bIns="0" rIns="0">
            <a:noAutofit/>
          </a:bodyPr>
          <a:lstStyle/>
          <a:p>
            <a:pPr algn="ctr"/>
            <a:r>
              <a:rPr lang="en-US" sz="1000" b="true">
                <a:solidFill>
                  <a:srgbClr val="0A66C2"/>
                </a:solidFill>
                <a:latin typeface="Raleway 1 Bold"/>
                <a:ea typeface="Raleway 1 Bold"/>
                <a:cs typeface="Raleway 1 Bold"/>
                <a:sym typeface="Raleway 1 Bold"/>
              </a:rPr>
              <a:t>in</a:t>
            </a:r>
          </a:p>
        </p:txBody>
      </p:sp>
      <p:sp>
        <p:nvSpPr>
          <p:cNvPr name="TextBox 303" id="303"/>
          <p:cNvSpPr txBox="true"/>
          <p:nvPr/>
        </p:nvSpPr>
        <p:spPr>
          <a:xfrm rot="0">
            <a:off x="682977" y="9006413"/>
            <a:ext cx="1537159" cy="142023"/>
          </a:xfrm>
          <a:prstGeom prst="rect">
            <a:avLst/>
          </a:prstGeom>
        </p:spPr>
        <p:txBody>
          <a:bodyPr anchor="t" rtlCol="false" tIns="0" lIns="0" bIns="0" rIns="0">
            <a:spAutoFit/>
          </a:bodyPr>
          <a:lstStyle/>
          <a:p>
            <a:pPr algn="l">
              <a:lnSpc>
                <a:spcPts val="1103"/>
              </a:lnSpc>
              <a:spcBef>
                <a:spcPct val="0"/>
              </a:spcBef>
            </a:pPr>
            <a:r>
              <a:rPr lang="en-US" sz="788" i="true">
                <a:solidFill>
                  <a:srgbClr val="FFFFFF"/>
                </a:solidFill>
                <a:latin typeface="Raleway 1"/>
                <a:ea typeface="Raleway 1"/>
                <a:cs typeface="Raleway 1"/>
                <a:sym typeface="Raleway 1"/>
              </a:rPr>
              <a:t>linkedin.com/in/kevin-ibarra-1a44323b0</a:t>
            </a:r>
          </a:p>
        </p:txBody>
      </p:sp>
      <p:grpSp>
        <p:nvGrpSpPr>
          <p:cNvPr name="Group 61" id="61"/>
          <p:cNvGrpSpPr/>
          <p:nvPr/>
        </p:nvGrpSpPr>
        <p:grpSpPr>
          <a:xfrm rot="0">
            <a:off x="344448" y="6207395"/>
            <a:ext cx="1944625" cy="107064"/>
            <a:chOff x="0" y="0"/>
            <a:chExt cx="10380315" cy="571500"/>
          </a:xfrm>
        </p:grpSpPr>
        <p:sp>
          <p:nvSpPr>
            <p:cNvPr name="Freeform 62" id="62"/>
            <p:cNvSpPr/>
            <p:nvPr/>
          </p:nvSpPr>
          <p:spPr>
            <a:xfrm flipH="false" flipV="false" rot="0">
              <a:off x="0" y="255270"/>
              <a:ext cx="10380315" cy="69850"/>
            </a:xfrm>
            <a:custGeom>
              <a:avLst/>
              <a:gdLst/>
              <a:ahLst/>
              <a:cxnLst/>
              <a:rect r="r" b="b" t="t" l="l"/>
              <a:pathLst>
                <a:path h="69850" w="10380315">
                  <a:moveTo>
                    <a:pt x="10089486" y="0"/>
                  </a:moveTo>
                  <a:lnTo>
                    <a:pt x="0" y="0"/>
                  </a:lnTo>
                  <a:lnTo>
                    <a:pt x="0" y="69850"/>
                  </a:lnTo>
                  <a:lnTo>
                    <a:pt x="10380315" y="69850"/>
                  </a:lnTo>
                  <a:lnTo>
                    <a:pt x="10380315" y="0"/>
                  </a:lnTo>
                  <a:close/>
                </a:path>
              </a:pathLst>
            </a:custGeom>
            <a:solidFill>
              <a:srgbClr val="FFFFFF"/>
            </a:solidFill>
          </p:spPr>
        </p:sp>
      </p:grpSp>
      <p:grpSp>
        <p:nvGrpSpPr>
          <p:cNvPr name="Group 63" id="63"/>
          <p:cNvGrpSpPr/>
          <p:nvPr/>
        </p:nvGrpSpPr>
        <p:grpSpPr>
          <a:xfrm rot="0">
            <a:off x="3227408" y="6403271"/>
            <a:ext cx="3706792" cy="101049"/>
            <a:chOff x="0" y="0"/>
            <a:chExt cx="20964451" cy="571500"/>
          </a:xfrm>
        </p:grpSpPr>
        <p:sp>
          <p:nvSpPr>
            <p:cNvPr name="Freeform 64" id="64"/>
            <p:cNvSpPr/>
            <p:nvPr/>
          </p:nvSpPr>
          <p:spPr>
            <a:xfrm flipH="false" flipV="false" rot="0">
              <a:off x="0" y="255270"/>
              <a:ext cx="20964451" cy="69850"/>
            </a:xfrm>
            <a:custGeom>
              <a:avLst/>
              <a:gdLst/>
              <a:ahLst/>
              <a:cxnLst/>
              <a:rect r="r" b="b" t="t" l="l"/>
              <a:pathLst>
                <a:path h="69850" w="20964451">
                  <a:moveTo>
                    <a:pt x="20673620" y="0"/>
                  </a:moveTo>
                  <a:lnTo>
                    <a:pt x="0" y="0"/>
                  </a:lnTo>
                  <a:lnTo>
                    <a:pt x="0" y="69850"/>
                  </a:lnTo>
                  <a:lnTo>
                    <a:pt x="20964451" y="69850"/>
                  </a:lnTo>
                  <a:lnTo>
                    <a:pt x="20964451" y="0"/>
                  </a:lnTo>
                  <a:close/>
                </a:path>
              </a:pathLst>
            </a:custGeom>
            <a:solidFill>
              <a:srgbClr val="000000"/>
            </a:solidFill>
          </p:spPr>
        </p:sp>
      </p:grpSp>
      <p:sp>
        <p:nvSpPr>
          <p:cNvPr name="TextBox 65" id="65"/>
          <p:cNvSpPr txBox="true"/>
          <p:nvPr/>
        </p:nvSpPr>
        <p:spPr>
          <a:xfrm rot="0">
            <a:off x="220655" y="5604981"/>
            <a:ext cx="1972617" cy="119776"/>
          </a:xfrm>
          <a:prstGeom prst="rect">
            <a:avLst/>
          </a:prstGeom>
        </p:spPr>
        <p:txBody>
          <a:bodyPr anchor="t" rtlCol="false" tIns="0" lIns="0" bIns="0" rIns="0">
            <a:spAutoFit/>
          </a:bodyPr>
          <a:lstStyle/>
          <a:p>
            <a:pPr algn="ctr">
              <a:lnSpc>
                <a:spcPts val="980"/>
              </a:lnSpc>
              <a:spcBef>
                <a:spcPct val="0"/>
              </a:spcBef>
            </a:pPr>
            <a:r>
              <a:rPr lang="en-US" sz="700">
                <a:solidFill>
                  <a:srgbClr val="FFFFFF"/>
                </a:solidFill>
                <a:latin typeface="Questrial 2"/>
                <a:ea typeface="Questrial 2"/>
                <a:cs typeface="Questrial 2"/>
                <a:sym typeface="Questrial 2"/>
              </a:rPr>
              <a:t>Ingeniería en Sistemas Computacionales</a:t>
            </a:r>
          </a:p>
        </p:txBody>
      </p:sp>
      <p:sp>
        <p:nvSpPr>
          <p:cNvPr name="TextBox 66" id="66"/>
          <p:cNvSpPr txBox="true"/>
          <p:nvPr/>
        </p:nvSpPr>
        <p:spPr>
          <a:xfrm rot="0">
            <a:off x="3288368" y="5161893"/>
            <a:ext cx="3706792" cy="147075"/>
          </a:xfrm>
          <a:prstGeom prst="rect">
            <a:avLst/>
          </a:prstGeom>
        </p:spPr>
        <p:txBody>
          <a:bodyPr anchor="t" rtlCol="false" tIns="0" lIns="0" bIns="0" rIns="0">
            <a:spAutoFit/>
          </a:bodyPr>
          <a:lstStyle/>
          <a:p>
            <a:pPr algn="l">
              <a:lnSpc>
                <a:spcPts val="1197"/>
              </a:lnSpc>
            </a:pPr>
            <a:r>
              <a:rPr lang="en-US" sz="921" b="true">
                <a:solidFill>
                  <a:srgbClr val="062446"/>
                </a:solidFill>
                <a:latin typeface="Raleway 1 Bold"/>
                <a:ea typeface="Raleway 1 Bold"/>
                <a:cs typeface="Raleway 1 Bold"/>
                <a:sym typeface="Raleway 1 Bold"/>
              </a:rPr>
              <a:t>PARTICIPACIÓN EN INVESTIGACIÓN</a:t>
            </a:r>
          </a:p>
        </p:txBody>
      </p:sp>
      <p:sp>
        <p:nvSpPr>
          <p:cNvPr name="TextBox 67" id="67"/>
          <p:cNvSpPr txBox="true"/>
          <p:nvPr/>
        </p:nvSpPr>
        <p:spPr>
          <a:xfrm rot="0">
            <a:off x="3373550" y="5431059"/>
            <a:ext cx="3706792" cy="1003780"/>
          </a:xfrm>
          <a:prstGeom prst="rect">
            <a:avLst/>
          </a:prstGeom>
        </p:spPr>
        <p:txBody>
          <a:bodyPr anchor="t" rtlCol="false" tIns="0" lIns="0" bIns="0" rIns="0">
            <a:spAutoFit/>
          </a:bodyPr>
          <a:lstStyle/>
          <a:p>
            <a:pPr algn="just">
              <a:lnSpc>
                <a:spcPts val="1177"/>
              </a:lnSpc>
            </a:pPr>
            <a:r>
              <a:rPr lang="en-US" sz="840">
                <a:solidFill>
                  <a:srgbClr val="000000"/>
                </a:solidFill>
                <a:latin typeface="Questrial 1"/>
                <a:ea typeface="Questrial 1"/>
                <a:cs typeface="Questrial 1"/>
                <a:sym typeface="Questrial 1"/>
              </a:rPr>
              <a:t>Est</a:t>
            </a:r>
            <a:r>
              <a:rPr lang="en-US" sz="840">
                <a:solidFill>
                  <a:srgbClr val="000000"/>
                </a:solidFill>
                <a:latin typeface="Questrial 1"/>
                <a:ea typeface="Questrial 1"/>
                <a:cs typeface="Questrial 1"/>
                <a:sym typeface="Questrial 1"/>
              </a:rPr>
              <a:t>ancia de investigación virtual en la Universidad de la Costa (Colombia), participando en el proyecto "Desarrollo de un CMMS para mantenimiento de buques de la Armada Colombiana" bajo la asesoría del Mg. Edwin Giovanny Paipa Sanabria.</a:t>
            </a:r>
          </a:p>
          <a:p>
            <a:pPr algn="just">
              <a:lnSpc>
                <a:spcPts val="1177"/>
              </a:lnSpc>
              <a:spcBef>
                <a:spcPct val="0"/>
              </a:spcBef>
            </a:pPr>
            <a:r>
              <a:rPr lang="en-US" sz="840">
                <a:solidFill>
                  <a:srgbClr val="000000"/>
                </a:solidFill>
                <a:latin typeface="Questrial 1"/>
                <a:ea typeface="Questrial 1"/>
                <a:cs typeface="Questrial 1"/>
                <a:sym typeface="Questrial 1"/>
              </a:rPr>
              <a:t>Tecnologías y áreas relacionadas: Python, automatización de procesos, innovación y desarrollo de software.</a:t>
            </a:r>
          </a:p>
          <a:p>
            <a:pPr algn="just">
              <a:lnSpc>
                <a:spcPts val="1177"/>
              </a:lnSpc>
              <a:spcBef>
                <a:spcPct val="0"/>
              </a:spcBef>
            </a:pPr>
          </a:p>
        </p:txBody>
      </p:sp>
      <p:sp>
        <p:nvSpPr>
          <p:cNvPr name="TextBox 68" id="68"/>
          <p:cNvSpPr txBox="true"/>
          <p:nvPr/>
        </p:nvSpPr>
        <p:spPr>
          <a:xfrm rot="0">
            <a:off x="3373550" y="5299442"/>
            <a:ext cx="4087540" cy="127235"/>
          </a:xfrm>
          <a:prstGeom prst="rect">
            <a:avLst/>
          </a:prstGeom>
        </p:spPr>
        <p:txBody>
          <a:bodyPr anchor="t" rtlCol="false" tIns="0" lIns="0" bIns="0" rIns="0">
            <a:spAutoFit/>
          </a:bodyPr>
          <a:lstStyle/>
          <a:p>
            <a:pPr algn="l">
              <a:lnSpc>
                <a:spcPts val="962"/>
              </a:lnSpc>
            </a:pPr>
            <a:r>
              <a:rPr lang="en-US" sz="740">
                <a:solidFill>
                  <a:srgbClr val="000000"/>
                </a:solidFill>
                <a:latin typeface="Raleway 1"/>
                <a:ea typeface="Raleway 1"/>
                <a:cs typeface="Raleway 1"/>
                <a:sym typeface="Raleway 1"/>
              </a:rPr>
              <a:t>Prog</a:t>
            </a:r>
            <a:r>
              <a:rPr lang="en-US" sz="740">
                <a:solidFill>
                  <a:srgbClr val="000000"/>
                </a:solidFill>
                <a:latin typeface="Raleway 1"/>
                <a:ea typeface="Raleway 1"/>
                <a:cs typeface="Raleway 1"/>
                <a:sym typeface="Raleway 1"/>
              </a:rPr>
              <a:t>rama Delfín – Verano de la Investigación Científica y Tecnológica 2026</a:t>
            </a:r>
          </a:p>
        </p:txBody>
      </p:sp>
      <p:sp>
        <p:nvSpPr>
          <p:cNvPr name="TextBox 69" id="69"/>
          <p:cNvSpPr txBox="true"/>
          <p:nvPr/>
        </p:nvSpPr>
        <p:spPr>
          <a:xfrm rot="0">
            <a:off x="373970" y="5772382"/>
            <a:ext cx="615925" cy="119776"/>
          </a:xfrm>
          <a:prstGeom prst="rect">
            <a:avLst/>
          </a:prstGeom>
        </p:spPr>
        <p:txBody>
          <a:bodyPr anchor="t" rtlCol="false" tIns="0" lIns="0" bIns="0" rIns="0">
            <a:spAutoFit/>
          </a:bodyPr>
          <a:lstStyle/>
          <a:p>
            <a:pPr algn="ctr">
              <a:lnSpc>
                <a:spcPts val="980"/>
              </a:lnSpc>
              <a:spcBef>
                <a:spcPct val="0"/>
              </a:spcBef>
            </a:pPr>
            <a:r>
              <a:rPr lang="en-US" sz="700">
                <a:solidFill>
                  <a:srgbClr val="FFFFFF"/>
                </a:solidFill>
                <a:latin typeface="Questrial 2"/>
                <a:ea typeface="Questrial 2"/>
                <a:cs typeface="Questrial 2"/>
                <a:sym typeface="Questrial 2"/>
              </a:rPr>
              <a:t>Promedio:</a:t>
            </a:r>
            <a:r>
              <a:rPr lang="en-US" sz="700">
                <a:solidFill>
                  <a:srgbClr val="FFFFFF"/>
                </a:solidFill>
                <a:latin typeface="Questrial 2"/>
                <a:ea typeface="Questrial 2"/>
                <a:cs typeface="Questrial 2"/>
                <a:sym typeface="Questrial 2"/>
              </a:rPr>
              <a:t> 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DAHCcd_5qjQ</dc:identifier>
  <dcterms:modified xsi:type="dcterms:W3CDTF">2011-08-01T06:04:30Z</dcterms:modified>
  <cp:revision>1</cp:revision>
  <dc:title>Currículum Corporativo Minimalista Azul marino</dc:title>
</cp:coreProperties>
</file>